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45"/>
  </p:notesMasterIdLst>
  <p:sldIdLst>
    <p:sldId id="256" r:id="rId6"/>
    <p:sldId id="257" r:id="rId7"/>
    <p:sldId id="258" r:id="rId8"/>
    <p:sldId id="270" r:id="rId9"/>
    <p:sldId id="271" r:id="rId10"/>
    <p:sldId id="272" r:id="rId11"/>
    <p:sldId id="277" r:id="rId12"/>
    <p:sldId id="278" r:id="rId13"/>
    <p:sldId id="280" r:id="rId14"/>
    <p:sldId id="279" r:id="rId15"/>
    <p:sldId id="282" r:id="rId16"/>
    <p:sldId id="259" r:id="rId17"/>
    <p:sldId id="274" r:id="rId18"/>
    <p:sldId id="281" r:id="rId19"/>
    <p:sldId id="260" r:id="rId20"/>
    <p:sldId id="275" r:id="rId21"/>
    <p:sldId id="283" r:id="rId22"/>
    <p:sldId id="285" r:id="rId23"/>
    <p:sldId id="297" r:id="rId24"/>
    <p:sldId id="286" r:id="rId25"/>
    <p:sldId id="261" r:id="rId26"/>
    <p:sldId id="290" r:id="rId27"/>
    <p:sldId id="291" r:id="rId28"/>
    <p:sldId id="296" r:id="rId29"/>
    <p:sldId id="292" r:id="rId30"/>
    <p:sldId id="293" r:id="rId31"/>
    <p:sldId id="294" r:id="rId32"/>
    <p:sldId id="295" r:id="rId33"/>
    <p:sldId id="262" r:id="rId34"/>
    <p:sldId id="273" r:id="rId35"/>
    <p:sldId id="287" r:id="rId36"/>
    <p:sldId id="288" r:id="rId37"/>
    <p:sldId id="289" r:id="rId38"/>
    <p:sldId id="263" r:id="rId39"/>
    <p:sldId id="267" r:id="rId40"/>
    <p:sldId id="268" r:id="rId41"/>
    <p:sldId id="264" r:id="rId42"/>
    <p:sldId id="265" r:id="rId43"/>
    <p:sldId id="266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787"/>
    <a:srgbClr val="F7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48" dt="2026-10-03T10:51:04.421"/>
    <p1510:client id="{06CDC401-4110-BB27-4864-C154CC2DB575}" v="193" dt="2026-10-02T09:58:10.721"/>
    <p1510:client id="{D2AF2A39-ADED-5B08-720E-9C52A4E78B37}" v="218" dt="2026-10-02T13:09:33.442"/>
    <p1510:client id="{D91A00E4-A29E-55FA-F10C-918BA4E212F5}" v="205" dt="2026-10-03T09:54:26.278"/>
    <p1510:client id="{FF061020-7C5F-EE6D-BA93-218BB3917208}" v="4" dt="2026-10-02T19:51:53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165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เวลาพูดประมาณ 40 วินาที</a:t>
            </a:r>
          </a:p>
          <a:p>
            <a:r>
              <a:rPr lang="th-TH"/>
              <a:t>ชี้ให้เห็นว่า </a:t>
            </a:r>
            <a:r>
              <a:rPr lang="af-ZA"/>
              <a:t>Statement </a:t>
            </a:r>
            <a:r>
              <a:rPr lang="th-TH"/>
              <a:t>มี </a:t>
            </a:r>
            <a:r>
              <a:rPr lang="af-ZA"/>
              <a:t>Expression </a:t>
            </a:r>
            <a:r>
              <a:rPr lang="th-TH"/>
              <a:t>อยู่ภายในได้ ไม่ใช่โค้ดสองกลุ่มที่แยกจากกันทุกส่วน เริ่มจากค่าของ 5 + 3 แล้วแสดงว่าค่านั้นไปเก็บใน </a:t>
            </a:r>
            <a:r>
              <a:rPr lang="af-ZA"/>
              <a:t>x </a:t>
            </a:r>
            <a:r>
              <a:rPr lang="th-TH"/>
              <a:t>ตามหัวข้อ 3 และ 4.1</a:t>
            </a:r>
          </a:p>
          <a:p>
            <a:r>
              <a:rPr lang="th-TH"/>
              <a:t>แหล่งเนื้อหา: </a:t>
            </a:r>
            <a:r>
              <a:rPr lang="af-ZA"/>
              <a:t>Rust_Expressions_Statements_revised_with_loop.md </a:t>
            </a:r>
            <a:r>
              <a:rPr lang="th-TH"/>
              <a:t>หัวข้อ 3–5, 9.3 และ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เวลาพูดประมาณ 35 วินาที</a:t>
            </a:r>
          </a:p>
          <a:p>
            <a:r>
              <a:t>แยก declaration กับ expression statement ตามหัวข้อ 4.1 เน้นว่าการทิ้งค่าที่คืนมาไม่ได้ยกเลิกผลของการทำงาน ตัวอย่าง println เพิ่มเพื่อให้เห็นค่าหลังทำงาน</a:t>
            </a:r>
          </a:p>
          <a:p>
            <a:r>
              <a:t>แหล่งเนื้อหา: Rust_Expressions_Statements_revised_with_loop.md หัวข้อ 3–5, 9.3 และ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เวลาพูดประมาณ 45 วินาที</a:t>
            </a:r>
          </a:p>
          <a:p>
            <a:r>
              <a:t>ใช้ตัวอย่างตรงกับหัวข้อ 4.2 ไล่จาก a และ b ไปที่ a + b แล้วอธิบายว่า result รับค่าของ block ทั้งก้อน เครื่องหมาย ; หลังปีกกาปิดจบ let statement แต่ไม่ทำให้ค่าภายใน block หายไป</a:t>
            </a:r>
          </a:p>
          <a:p>
            <a:r>
              <a:t>แหล่งเนื้อหา: Rust_Expressions_Statements_revised_with_loop.md หัวข้อ 3–5, 9.3 และ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เวลาพูดประมาณ 50 วินาที</a:t>
            </a:r>
          </a:p>
          <a:p>
            <a:r>
              <a:t>เปรียบเทียบสอง block ซึ่งต่างกันเพียง semicolon ภายใน ชี้ x เป็นตัวอย่างที่มี tail ส่วน y ใช้รูปแบบเดียวกับตัวอย่าง unit ในหัวข้อ 4.3 แต่เปลี่ยนชื่อตัวแปรเพื่อเปรียบเทียบพร้อมกัน () คือ Unit value</a:t>
            </a:r>
          </a:p>
          <a:p>
            <a:r>
              <a:t>แหล่งเนื้อหา: Rust_Expressions_Statements_revised_with_loop.md หัวข้อ 3–5, 9.3 และ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เวลาพูดประมาณ 35 วินาที</a:t>
            </a:r>
          </a:p>
          <a:p>
            <a:r>
              <a:t>เกริ่นแนวคิดจากหัวข้อ 4.4 ไม่ลงรายละเอียด demo ที่เป็นงาน Member 2 ชี้ว่า if อยู่ทางขวาของ = และเลือกค่าได้โดยตรง</a:t>
            </a:r>
          </a:p>
          <a:p>
            <a:r>
              <a:t>แหล่งเนื้อหา: Rust_Expressions_Statements_revised_with_loop.md หัวข้อ 3–5, 9.3 และ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เวลาพูดประมาณ 35 วินาที</a:t>
            </a:r>
          </a:p>
          <a:p>
            <a:r>
              <a:t>ใช้ตัวอย่างหัวข้อ 4.5 อธิบายคำว่า arm และ wildcard _ อย่างสั้น เชื่อม type ที่เข้ากันได้ตามหัวข้อ 9.3 ส่งต่อการวิเคราะห์โค้ดและ demo อย่างละเอียดให้ Member 2</a:t>
            </a:r>
          </a:p>
          <a:p>
            <a:r>
              <a:t>แหล่งเนื้อหา: Rust_Expressions_Statements_revised_with_loop.md หัวข้อ 3–5, 9.3 และ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หัวข้อเสริม 4.6 นอกเวลาหลัก 5 นาที ใช้ประมาณ 20–30 วินาทีหากมีเวลา หรือเปิดเมื่อถามตอบ break value; หยุด loop และให้ค่ากับ loop expression</a:t>
            </a:r>
          </a:p>
          <a:p>
            <a:r>
              <a:t>แหล่งเนื้อหา: Rust_Expressions_Statements_revised_with_loop.md หัวข้อ 3–5, 9.3 และ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เวลาพูดประมาณ 25 วินาที</a:t>
            </a:r>
          </a:p>
          <a:p>
            <a:r>
              <a:t>สรุปครบหกรูปแบบและหกกฎจากหัวข้อ 5 โค้ดเป็นรูปแบบทั่วไปที่ใช้ชื่อแทน จึงไม่ใช่โปรแกรมพร้อม compile หน้าถัดไปเป็นตัวอย่าง loop เสริม เลือกข้ามได้เมื่อต้องคุมเวลา 5 นาที</a:t>
            </a:r>
          </a:p>
          <a:p>
            <a:r>
              <a:t>แหล่งเนื้อหา: Rust_Expressions_Statements_revised_with_loop.md หัวข้อ 3–5, 9.3 และ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FED27-EABE-0303-BAF1-01ABDDA14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D5FBE-9A08-2C41-AFDA-2BC7AF643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93068-EEE0-EC23-CAF6-C2937DA10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เวลาพูดประมาณ 25 วินาที</a:t>
            </a:r>
          </a:p>
          <a:p>
            <a:r>
              <a:t>สรุปครบหกรูปแบบและหกกฎจากหัวข้อ 5 โค้ดเป็นรูปแบบทั่วไปที่ใช้ชื่อแทน จึงไม่ใช่โปรแกรมพร้อม compile หน้าถัดไปเป็นตัวอย่าง loop เสริม เลือกข้ามได้เมื่อต้องคุมเวลา 5 นาที</a:t>
            </a:r>
          </a:p>
          <a:p>
            <a:r>
              <a:t>แหล่งเนื้อหา: Rust_Expressions_Statements_revised_with_loop.md หัวข้อ 3–5, 9.3 และ 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C091C-7135-4366-15EE-A91C1BC3A7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41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75C6A-CDE9-CA6B-A0D6-6C245E13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F49B6-1AD8-62C6-C85D-AA631ED7B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3084E-A060-5F07-221D-F51BB1215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1FD4-6B70-CA5E-2C63-82C2F77A39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887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5E82B-887F-37AC-A2FA-4EB486BDA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A99F2-8D77-9604-5C96-E874C9BFB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990DD0-308A-D904-B0E8-7BF52D019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84F44-571A-836E-106A-BDAF8767A3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580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64038-98FF-6A51-F358-137F2F41C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9A625-0F08-01EA-3726-2F78BF1E5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D39778-F9E4-168D-3FAA-BAD88599E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F103D-DDAA-0A7B-DC2D-8D66F64E68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752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1BCD7-4B83-F54E-A8DD-6C679D114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8A66E-F1B0-F849-48C7-B99939602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23124-16D5-5F34-B4DD-AFEF4189A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14336-5918-5199-1FE3-4702C0F482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20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530F3-4D9C-EF66-543D-53160C372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E09C0-0F98-029F-053F-CC8FB4EEC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280F0-51B3-55E4-8277-82873DC41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7AD01-74E8-A926-E682-8194F5E21C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189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76DC0-0336-7911-6D86-C78462E04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1A2313-8521-E57E-E8BE-FAF285F04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93150-3916-881D-F5B6-3E5457393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E39C5-BA70-045E-256C-077CC3C262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587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4D7DF-1E5F-F704-D77B-3AECF8136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6149B-E9F5-F729-5538-4C8768C46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34D98-112A-0FC7-0283-C7D93AA0B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39C2C-9A09-B2C1-4939-C0D70EFE0C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789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D6C3C-0112-C8B8-A75B-6FB4C1455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2DEDD-40C2-C682-E923-F2A86DFA7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9F0C9-9F99-1E2B-08D5-F057B94F4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50C03-2D8C-E25E-A56A-BFC1B40EE5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279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487FC-F415-6F42-B8F9-5D9C21B04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9F0EF-BE58-AB6D-0ADD-6F6606E20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6B1EE-C16B-2C91-038E-6C77F9CA9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545CF-4B7C-6E6E-1B5D-1A99092C20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672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A5897-C1D5-4CEC-A882-FF2CC3370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A35BA-7822-A4AE-7DEE-1C92779B0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B7923-DC0C-3460-3EFF-78A835CB8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A2E78-654D-476E-5F71-F1B544D81A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553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49C96-BA50-F6D9-F10C-B044353F4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230501-1FB9-6853-B9DC-CE39A396E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45788C-1553-4F36-FA50-F67915D94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4B936-6B6E-452A-EFF8-D56748FC54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4194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69FCC-E76B-09B6-068F-8463CDC04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3F3A3-3C69-B65D-DAA5-372B25BC9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2430A6-A81F-5EE1-359A-FD074F3EE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9E861-4E0E-7A6C-D9D3-66F081C5FE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030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A9085-3FAC-671B-80FB-55E118207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5D77A-21D5-7500-017D-FEB3B4CE1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479576-7832-365D-54DE-FA41AB4B4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FA722-8702-866B-2855-D6FA25C65B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149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EA5B3-4FBB-060C-BBDD-FE9F00D26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A080C-4659-BEDE-D3AC-0C734185F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66C9C-2526-2E01-79C4-024E0AF04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9D35A-7EB7-92CF-E871-4BC91E34C3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141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067E7-7D61-BB16-E1AB-985380425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4788E-579C-4E3D-C3D1-16A7B1B9F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68F7A-B5FB-926C-45A8-AC1A941C3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9E618-B137-2957-8DC4-03D420FABC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28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5A32E-0590-CD44-C50F-A727A0FA3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BD8F2-9619-A4D5-EC2F-E114B0012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39D16-8FA5-516D-DBE4-2BE8D7D6D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97C95-13FE-0716-9E24-F9B5DC9399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792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A4B13-9FF3-1DA8-2103-7DCE6F2D6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64976-0DE3-B560-941D-7A990E854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7CA110-DA9D-23DB-DB89-9B5402E89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8DD2B-B6DA-5621-ED61-096EE757C6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765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82355-111E-9C19-9A88-0A85B0A67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73295-38C2-F869-242F-D272875F3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11DFA-55A1-36B7-3DE3-F2462BBD61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37CC1-B762-7B4F-84EB-CDFFE6F86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837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639B9-4245-93AB-3E57-E82A5E5F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3C0A16-F755-C92D-2369-FED8A8821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2AEDE-5DF3-7EFB-352B-3F01E7B10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0944F-B5EA-E3AC-5312-606E20793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251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3F5B3-998E-85D1-7971-417E71F24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D14B8-9F25-9B5D-09B4-8A5AE50CC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23454-3B07-DB1C-EF85-A33C1B1AE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8CB11-F6E0-964A-3C8D-C04A53843E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66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Template นี้จัดทำเพื่อใช้เป็นโครงร่างการนำเสนอ กลุ่มสามารถปรับสี/รูปแบบเพิ่มเติมได้ แต่ควรคงโครงสร้าง 4 ส่วนตามสมาชิกไว้ และให้ทุกคนเตรียมพร้อมตอบคำถามในส่วนของเพื่อนร่วมกลุ่มได้ด้วย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84264"/>
            <a:ext cx="12191695" cy="0"/>
          </a:xfrm>
          <a:prstGeom prst="line">
            <a:avLst/>
          </a:prstGeom>
          <a:noFill/>
          <a:ln w="10160">
            <a:solidFill>
              <a:srgbClr val="EDED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A8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Rust Programming Tutorial • Expressions &amp; Statements</a:t>
            </a:r>
            <a:endParaRPr lang="en-US" sz="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347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670710127/rust-tutorial-2569/tree/main" TargetMode="External"/><Relationship Id="rId3" Type="http://schemas.openxmlformats.org/officeDocument/2006/relationships/hyperlink" Target="https://doc.rust-lang.org/book/ch03-03-how-functions-work.html#statements-and-expressions" TargetMode="External"/><Relationship Id="rId7" Type="http://schemas.openxmlformats.org/officeDocument/2006/relationships/hyperlink" Target="https://doc.rust-lang.org/std/primitive.unit.html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.rust-lang.org/reference/expressions/block-expr.html" TargetMode="External"/><Relationship Id="rId5" Type="http://schemas.openxmlformats.org/officeDocument/2006/relationships/hyperlink" Target="https://doc.rust-lang.org/reference/statements-and-expressions.html" TargetMode="External"/><Relationship Id="rId4" Type="http://schemas.openxmlformats.org/officeDocument/2006/relationships/hyperlink" Target="https://doc.rust-lang.org/rust-by-example/expression.html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A1414"/>
          </a:solidFill>
          <a:ln/>
        </p:spPr>
      </p:sp>
      <p:sp>
        <p:nvSpPr>
          <p:cNvPr id="3" name="Shape 1"/>
          <p:cNvSpPr/>
          <p:nvPr/>
        </p:nvSpPr>
        <p:spPr>
          <a:xfrm>
            <a:off x="8348472" y="-1828800"/>
            <a:ext cx="5943600" cy="5943600"/>
          </a:xfrm>
          <a:prstGeom prst="ellipse">
            <a:avLst/>
          </a:prstGeom>
          <a:solidFill>
            <a:srgbClr val="8B2E2E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297680"/>
            <a:ext cx="4572000" cy="4572000"/>
          </a:xfrm>
          <a:prstGeom prst="ellipse">
            <a:avLst/>
          </a:prstGeom>
          <a:solidFill>
            <a:srgbClr val="C9A227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00">
                <a:solidFill>
                  <a:srgbClr val="E8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TUTORIAL PRESENTATION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กลุ่ม</a:t>
            </a: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5  —  </a:t>
            </a: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+mn-lt"/>
              </a:rPr>
              <a:t>Expressions &amp; Statements</a:t>
            </a:r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10725912" cy="1965960"/>
          </a:xfrm>
          <a:prstGeom prst="roundRect">
            <a:avLst>
              <a:gd name="adj" fmla="val 37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87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315968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1. </a:t>
            </a:r>
            <a:r>
              <a:rPr lang="en-US" sz="1400" err="1">
                <a:solidFill>
                  <a:srgbClr val="FFFFFF"/>
                </a:solidFill>
                <a:ea typeface="+mn-lt"/>
                <a:cs typeface="+mn-lt"/>
              </a:rPr>
              <a:t>คมสัน</a:t>
            </a:r>
            <a:r>
              <a:rPr lang="en-US" sz="14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FFFFFF"/>
                </a:solidFill>
                <a:ea typeface="+mn-lt"/>
                <a:cs typeface="+mn-lt"/>
              </a:rPr>
              <a:t>กลิ่นหอม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— Concept + Short Code Illustration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05840" y="4745736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</a:t>
            </a:r>
            <a:r>
              <a:rPr lang="en-US" sz="140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en-US" sz="1400" err="1">
                <a:solidFill>
                  <a:srgbClr val="FFFFFF"/>
                </a:solidFill>
                <a:ea typeface="+mn-lt"/>
                <a:cs typeface="+mn-lt"/>
              </a:rPr>
              <a:t>ฐิติพงศ์</a:t>
            </a:r>
            <a:r>
              <a:rPr lang="en-US" sz="14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FFFFFF"/>
                </a:solidFill>
                <a:ea typeface="+mn-lt"/>
                <a:cs typeface="+mn-lt"/>
              </a:rPr>
              <a:t>ราชธานี</a:t>
            </a:r>
            <a:r>
              <a:rPr lang="en-US" sz="14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— Detailed Code + Live Demo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5175504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3. </a:t>
            </a:r>
            <a:r>
              <a:rPr lang="en-US" sz="1400" err="1">
                <a:solidFill>
                  <a:srgbClr val="FFFFFF"/>
                </a:solidFill>
                <a:ea typeface="+mn-lt"/>
                <a:cs typeface="+mn-lt"/>
              </a:rPr>
              <a:t>ณัฏฐ์ธเนศ</a:t>
            </a:r>
            <a:r>
              <a:rPr lang="en-US" sz="14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FFFFFF"/>
                </a:solidFill>
                <a:ea typeface="+mn-lt"/>
                <a:cs typeface="+mn-lt"/>
              </a:rPr>
              <a:t>กุนทรฐิติวัสส์</a:t>
            </a:r>
            <a:r>
              <a:rPr lang="en-US" sz="1400">
                <a:solidFill>
                  <a:srgbClr val="FFFFFF"/>
                </a:solidFill>
                <a:ea typeface="+mn-lt"/>
                <a:cs typeface="+mn-lt"/>
              </a:rPr>
              <a:t> 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— Rust vs Other Language + PPL Analysis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5840" y="5605272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</a:t>
            </a:r>
            <a:r>
              <a:rPr lang="en-US" sz="1400" err="1">
                <a:solidFill>
                  <a:srgbClr val="FFFFFF"/>
                </a:solidFill>
                <a:ea typeface="+mn-lt"/>
                <a:cs typeface="+mn-lt"/>
              </a:rPr>
              <a:t>ณัฐพงศ์</a:t>
            </a:r>
            <a:r>
              <a:rPr lang="en-US" sz="14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FFFFFF"/>
                </a:solidFill>
                <a:ea typeface="+mn-lt"/>
                <a:cs typeface="+mn-lt"/>
              </a:rPr>
              <a:t>อวชัย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— Exercises + Common Mistakes + Challenge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6355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9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คณะวิทยาศาสตร์ มหาวิทยาลัยศิลปากร  |  ภาคการศึกษาที่ 1/2569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โครงสร้างการนำเสนอ (รวม ~20 นาที)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แต่ละคนนำเสนอประมาณ 5 นาที ต่อเนื่องกันตามลำดับ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5" name="Shape 3"/>
          <p:cNvSpPr/>
          <p:nvPr/>
        </p:nvSpPr>
        <p:spPr>
          <a:xfrm>
            <a:off x="1477899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6" name="Text 4"/>
          <p:cNvSpPr/>
          <p:nvPr/>
        </p:nvSpPr>
        <p:spPr>
          <a:xfrm>
            <a:off x="1477899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594360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94360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+ Short Code Illustration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94360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แนวคิดหลักของหัวข้อ พร้อมโค้ดตัวอย่างสั้น ๆ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94360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3321558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2257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13" name="Text 11"/>
          <p:cNvSpPr/>
          <p:nvPr/>
        </p:nvSpPr>
        <p:spPr>
          <a:xfrm>
            <a:off x="4342257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3458718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3458718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Code + Live Demo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3458718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อธิบายโค้ดเชิงลึกและสาธิตการทำงานจริง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3458718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6185916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19" name="Shape 17"/>
          <p:cNvSpPr/>
          <p:nvPr/>
        </p:nvSpPr>
        <p:spPr>
          <a:xfrm>
            <a:off x="7206615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20" name="Text 18"/>
          <p:cNvSpPr/>
          <p:nvPr/>
        </p:nvSpPr>
        <p:spPr>
          <a:xfrm>
            <a:off x="7206615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6323076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323076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Rust vs Other Language + PPL Analysis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6323076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เปรียบเทียบภาษา และวิเคราะห์เชิง Programming Language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6323076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9050274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70973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27" name="Text 25"/>
          <p:cNvSpPr/>
          <p:nvPr/>
        </p:nvSpPr>
        <p:spPr>
          <a:xfrm>
            <a:off x="10070973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/>
          </a:p>
        </p:txBody>
      </p:sp>
      <p:sp>
        <p:nvSpPr>
          <p:cNvPr id="28" name="Text 26"/>
          <p:cNvSpPr/>
          <p:nvPr/>
        </p:nvSpPr>
        <p:spPr>
          <a:xfrm>
            <a:off x="9187434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9187434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Exercises + Common Mistakes + Challenge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9187434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ข้อผิดพลาดที่พบบ่อย และโจทย์ท้าทายผู้ฟัง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9187434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af-ZA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MEMBER 1</a:t>
            </a:r>
            <a:endParaRPr lang="af-ZA"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191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>
              <a:defRPr sz="300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lang="en-US" sz="3000" b="1">
                <a:solidFill>
                  <a:srgbClr val="222222"/>
                </a:solidFill>
                <a:latin typeface="Noto Sans Thai"/>
              </a:rPr>
              <a:t>Concept</a:t>
            </a:r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852160" y="1691640"/>
            <a:ext cx="5879592" cy="365760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042660" y="1838325"/>
            <a:ext cx="5498592" cy="34099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af-ZA"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fn</a:t>
            </a: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lang="af-ZA"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main</a:t>
            </a: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lang="af-ZA"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x = </a:t>
            </a:r>
            <a:r>
              <a:rPr lang="af-ZA"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5</a:t>
            </a: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+ </a:t>
            </a:r>
            <a:r>
              <a:rPr lang="af-ZA"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lang="af-ZA"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lang="af-ZA"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"{}"</a:t>
            </a: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x);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af-ZA" sz="1650">
                <a:solidFill>
                  <a:srgbClr val="BBC6D1"/>
                </a:solidFill>
                <a:latin typeface="DejaVu Sans Mono"/>
                <a:ea typeface="DejaVu Sans Mono"/>
                <a:cs typeface="DejaVu Sans Mono"/>
              </a:rPr>
              <a:t>// 5 + 3          Expression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af-ZA" sz="1650">
                <a:solidFill>
                  <a:srgbClr val="BBC6D1"/>
                </a:solidFill>
                <a:latin typeface="DejaVu Sans Mono"/>
                <a:ea typeface="DejaVu Sans Mono"/>
                <a:cs typeface="DejaVu Sans Mono"/>
              </a:rPr>
              <a:t>// let x = 5 + 3; Statement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af-ZA" sz="1650">
                <a:solidFill>
                  <a:srgbClr val="BBC6D1"/>
                </a:solidFill>
                <a:latin typeface="DejaVu Sans Mono"/>
                <a:ea typeface="DejaVu Sans Mono"/>
                <a:cs typeface="DejaVu Sans Mono"/>
              </a:rPr>
              <a:t>// 8              Value</a:t>
            </a:r>
          </a:p>
        </p:txBody>
      </p:sp>
      <p:sp>
        <p:nvSpPr>
          <p:cNvPr id="8" name="Text 6"/>
          <p:cNvSpPr/>
          <p:nvPr/>
        </p:nvSpPr>
        <p:spPr>
          <a:xfrm>
            <a:off x="5852160" y="5457825"/>
            <a:ext cx="5879592" cy="2762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  <a:defRPr sz="142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lang="af-ZA" sz="1425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Expected Output</a:t>
            </a:r>
            <a:endParaRPr lang="af-ZA" sz="1200"/>
          </a:p>
        </p:txBody>
      </p:sp>
      <p:sp>
        <p:nvSpPr>
          <p:cNvPr id="9" name="Shape 7"/>
          <p:cNvSpPr/>
          <p:nvPr/>
        </p:nvSpPr>
        <p:spPr>
          <a:xfrm>
            <a:off x="5852160" y="5772150"/>
            <a:ext cx="5879592" cy="542925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042660" y="5819775"/>
            <a:ext cx="5498592" cy="46672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h-TH"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8</a:t>
            </a:r>
          </a:p>
        </p:txBody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323F01B5-BCED-6CB1-EEE0-19A1214E7F86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00"/>
          </a:p>
        </p:txBody>
      </p:sp>
      <p:sp>
        <p:nvSpPr>
          <p:cNvPr id="16" name="Text 30">
            <a:extLst>
              <a:ext uri="{FF2B5EF4-FFF2-40B4-BE49-F238E27FC236}">
                <a16:creationId xmlns:a16="http://schemas.microsoft.com/office/drawing/2014/main" id="{AE597E4E-83C8-8AC4-4F3D-A80245972615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1" name="สี่เหลี่ยมผืนผ้า 5">
            <a:extLst>
              <a:ext uri="{FF2B5EF4-FFF2-40B4-BE49-F238E27FC236}">
                <a16:creationId xmlns:a16="http://schemas.microsoft.com/office/drawing/2014/main" id="{6E99CB01-463E-4817-BA6A-3E786C01EE92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4953000" cy="419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spcBef>
                <a:spcPts val="0"/>
              </a:spcBef>
              <a:spcAft>
                <a:spcPts val="1650"/>
              </a:spcAft>
              <a:buFont typeface="Arial"/>
              <a:buChar char="•"/>
              <a:defRPr sz="1800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endParaRPr lang="en-US" sz="1800">
              <a:latin typeface="Noto Sans Thai"/>
              <a:ea typeface="Noto Sans Thai"/>
              <a:cs typeface="Noto Sans Thai"/>
            </a:endParaRPr>
          </a:p>
        </p:txBody>
      </p:sp>
      <p:sp>
        <p:nvSpPr>
          <p:cNvPr id="12" name="สี่เหลี่ยมผืนผ้า 5">
            <a:extLst>
              <a:ext uri="{FF2B5EF4-FFF2-40B4-BE49-F238E27FC236}">
                <a16:creationId xmlns:a16="http://schemas.microsoft.com/office/drawing/2014/main" id="{4FC5D416-EEE9-4409-865D-D1BC8A7951B4}"/>
              </a:ext>
            </a:extLst>
          </p:cNvPr>
          <p:cNvSpPr>
            <a:spLocks noGrp="1"/>
          </p:cNvSpPr>
          <p:nvPr/>
        </p:nvSpPr>
        <p:spPr>
          <a:xfrm>
            <a:off x="609600" y="1592669"/>
            <a:ext cx="5094768" cy="41400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Bef>
                <a:spcPts val="0"/>
              </a:spcBef>
              <a:spcAft>
                <a:spcPts val="1700"/>
              </a:spcAft>
              <a:buFont typeface="Arial"/>
              <a:buChar char="•"/>
              <a:defRPr sz="1875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/>
              <a:t>Rust </a:t>
            </a:r>
            <a:r>
              <a:rPr sz="1850" err="1"/>
              <a:t>เน้นการทำงานผ่าน</a:t>
            </a:r>
            <a:r>
              <a:rPr sz="1850"/>
              <a:t> expressions </a:t>
            </a:r>
            <a:r>
              <a:rPr sz="1850" err="1"/>
              <a:t>เป็นหลัก</a:t>
            </a:r>
            <a:endParaRPr lang="en-US" sz="1850"/>
          </a:p>
          <a:p>
            <a:pPr marL="342900" indent="-342900" algn="l">
              <a:spcBef>
                <a:spcPts val="0"/>
              </a:spcBef>
              <a:spcAft>
                <a:spcPts val="1700"/>
              </a:spcAft>
              <a:buFont typeface="Arial"/>
              <a:buChar char="•"/>
              <a:defRPr sz="1875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/>
              <a:t>Expression </a:t>
            </a:r>
            <a:r>
              <a:rPr sz="1850" err="1"/>
              <a:t>คือโค้ดที่ถูก</a:t>
            </a:r>
            <a:r>
              <a:rPr lang="th-TH" sz="1850"/>
              <a:t>ประเมินและให้ค่าออกมา</a:t>
            </a:r>
            <a:r>
              <a:rPr sz="1850"/>
              <a:t> </a:t>
            </a:r>
            <a:r>
              <a:rPr sz="1850" err="1"/>
              <a:t>และระหว่างการประเมินอาจทำให้เกิด</a:t>
            </a:r>
            <a:r>
              <a:rPr sz="1850"/>
              <a:t> effect </a:t>
            </a:r>
            <a:r>
              <a:rPr sz="1850" err="1"/>
              <a:t>ได้</a:t>
            </a:r>
            <a:endParaRPr sz="1850"/>
          </a:p>
          <a:p>
            <a:pPr marL="342900" indent="-342900">
              <a:spcAft>
                <a:spcPts val="1700"/>
              </a:spcAft>
              <a:buFont typeface="Arial"/>
              <a:buChar char="•"/>
              <a:defRPr sz="1875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/>
              <a:t>Statement </a:t>
            </a:r>
            <a:r>
              <a:rPr lang="en-US" sz="1850" err="1"/>
              <a:t>คือคำสั่งที่ใช้ประกาศหรือสั่งให้โปรแกรมทำงาน</a:t>
            </a:r>
            <a:r>
              <a:rPr lang="en-US" sz="1850"/>
              <a:t> </a:t>
            </a:r>
            <a:r>
              <a:rPr lang="en-US" sz="1850" err="1"/>
              <a:t>โดยไม่ได้ใช้ผลลัพธต่อ</a:t>
            </a:r>
            <a:endParaRPr lang="en-US" sz="1850"/>
          </a:p>
          <a:p>
            <a:pPr marL="342900" indent="-342900" algn="l">
              <a:spcBef>
                <a:spcPts val="0"/>
              </a:spcBef>
              <a:spcAft>
                <a:spcPts val="1700"/>
              </a:spcAft>
              <a:buFont typeface="Arial"/>
              <a:buChar char="•"/>
              <a:defRPr sz="1875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/>
              <a:t>แนวคิดนี้เชื่อมกับ</a:t>
            </a:r>
            <a:r>
              <a:rPr sz="1850"/>
              <a:t> Block Expression, return value </a:t>
            </a:r>
            <a:r>
              <a:rPr sz="1850" err="1"/>
              <a:t>และการใช้</a:t>
            </a:r>
            <a:r>
              <a:rPr sz="1850"/>
              <a:t> if / match </a:t>
            </a:r>
            <a:r>
              <a:rPr sz="1850" err="1"/>
              <a:t>เป็น</a:t>
            </a:r>
            <a:r>
              <a:rPr sz="1850"/>
              <a:t> Expression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MEMBER 1</a:t>
            </a:r>
            <a:endParaRPr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191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>
              <a:defRPr sz="300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300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Statement </a:t>
            </a:r>
            <a:r>
              <a:rPr lang="th-TH" sz="300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ทั้ง 2 </a:t>
            </a:r>
            <a:r>
              <a:rPr sz="3000" b="1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กลุ่ม</a:t>
            </a:r>
            <a:endParaRPr sz="3000" err="1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62125"/>
            <a:ext cx="5000625" cy="43053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Declaration Statement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เช่น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let x = 10;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ใช้ประกาศตัวแปร</a:t>
            </a:r>
            <a:endParaRPr lang="en-US" sz="1850" err="1">
              <a:solidFill>
                <a:srgbClr val="222222"/>
              </a:solidFill>
              <a:latin typeface="Noto Sans Thai"/>
              <a:ea typeface="Noto Sans Thai"/>
              <a:cs typeface="Noto Sans Thai"/>
            </a:endParaRP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Expression Statement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เช่น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v.pop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();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ประเมิน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Expression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แต่ไม่ใช้ค่าผลลัพธ์ต่อ</a:t>
            </a:r>
            <a:endParaRPr sz="1850">
              <a:solidFill>
                <a:srgbClr val="222222"/>
              </a:solidFill>
              <a:latin typeface="Noto Sans Thai"/>
              <a:ea typeface="Noto Sans Thai"/>
              <a:cs typeface="Noto Sans Thai"/>
            </a:endParaRP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v.pop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()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นำสมาชิกตัวท้ายออกและคืน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Some(3)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แต่ตัวอย่างนี้ทิ้งค่าที่คืนมา</a:t>
            </a: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แม้ไม่ได้ใช้ค่าผลลัพธ์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effect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ยังเกิดขึ้น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จึงเหลือ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v = [1, 2]</a:t>
            </a:r>
          </a:p>
        </p:txBody>
      </p:sp>
      <p:sp>
        <p:nvSpPr>
          <p:cNvPr id="6" name="Shape 4"/>
          <p:cNvSpPr/>
          <p:nvPr/>
        </p:nvSpPr>
        <p:spPr>
          <a:xfrm>
            <a:off x="5852160" y="1691640"/>
            <a:ext cx="5879592" cy="365760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042660" y="1838325"/>
            <a:ext cx="5498592" cy="34099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fn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main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x =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10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mut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v =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vec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![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];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v.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pop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"x = {}"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x);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"v = {:?}"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v);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Text 6"/>
          <p:cNvSpPr/>
          <p:nvPr/>
        </p:nvSpPr>
        <p:spPr>
          <a:xfrm>
            <a:off x="5852160" y="5457825"/>
            <a:ext cx="5879592" cy="2762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  <a:defRPr sz="142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Expected Output</a:t>
            </a:r>
            <a:endParaRPr sz="1200"/>
          </a:p>
        </p:txBody>
      </p:sp>
      <p:sp>
        <p:nvSpPr>
          <p:cNvPr id="9" name="Shape 7"/>
          <p:cNvSpPr/>
          <p:nvPr/>
        </p:nvSpPr>
        <p:spPr>
          <a:xfrm>
            <a:off x="5852160" y="5772150"/>
            <a:ext cx="5879592" cy="542925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042660" y="5819775"/>
            <a:ext cx="5498592" cy="46672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x = 10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v = [1, 2]</a:t>
            </a:r>
          </a:p>
        </p:txBody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8F867E32-E0D8-B189-EDA6-857A2498C092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000"/>
          </a:p>
        </p:txBody>
      </p:sp>
      <p:sp>
        <p:nvSpPr>
          <p:cNvPr id="16" name="Text 30">
            <a:extLst>
              <a:ext uri="{FF2B5EF4-FFF2-40B4-BE49-F238E27FC236}">
                <a16:creationId xmlns:a16="http://schemas.microsoft.com/office/drawing/2014/main" id="{0726B9C7-ED34-7C0E-FE1B-4E1147D48F93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MEMBER 1</a:t>
            </a:r>
            <a:endParaRPr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191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>
              <a:defRPr sz="300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300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Block Expression</a:t>
            </a:r>
            <a:endParaRPr sz="30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62125"/>
            <a:ext cx="5000625" cy="43053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Block { ... }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เป็น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Expression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และมีค่าของตัวเองได้</a:t>
            </a:r>
            <a:endParaRPr lang="en-US" sz="1850" err="1"/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ภายใน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block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มี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Statement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หลายบรรทัดก่อนสร้างค่าผลลัพธ์ได้</a:t>
            </a: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a + b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เป็น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Expression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สุดท้ายและไม่มี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;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จึงทำให้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block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มีค่า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8</a:t>
            </a: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ค่าของ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block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ทั้งก้อนถูกนำไปกำหนดให้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result</a:t>
            </a:r>
          </a:p>
        </p:txBody>
      </p:sp>
      <p:sp>
        <p:nvSpPr>
          <p:cNvPr id="6" name="Shape 4"/>
          <p:cNvSpPr/>
          <p:nvPr/>
        </p:nvSpPr>
        <p:spPr>
          <a:xfrm>
            <a:off x="5852160" y="1691640"/>
            <a:ext cx="5879592" cy="365760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042660" y="1838325"/>
            <a:ext cx="5498592" cy="34099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fn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main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result =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a =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5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b =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a + b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"{}"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result);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Text 6"/>
          <p:cNvSpPr/>
          <p:nvPr/>
        </p:nvSpPr>
        <p:spPr>
          <a:xfrm>
            <a:off x="5852160" y="5457825"/>
            <a:ext cx="5879592" cy="2762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  <a:defRPr sz="142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Expected Output</a:t>
            </a:r>
            <a:endParaRPr sz="1200"/>
          </a:p>
        </p:txBody>
      </p:sp>
      <p:sp>
        <p:nvSpPr>
          <p:cNvPr id="9" name="Shape 7"/>
          <p:cNvSpPr/>
          <p:nvPr/>
        </p:nvSpPr>
        <p:spPr>
          <a:xfrm>
            <a:off x="5852160" y="5772150"/>
            <a:ext cx="5879592" cy="542925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042660" y="5819775"/>
            <a:ext cx="5498592" cy="46672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8</a:t>
            </a:r>
          </a:p>
        </p:txBody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5ED6305F-A4D5-9B4C-BC5A-AD917743EFBC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000"/>
          </a:p>
        </p:txBody>
      </p:sp>
      <p:sp>
        <p:nvSpPr>
          <p:cNvPr id="16" name="Text 30">
            <a:extLst>
              <a:ext uri="{FF2B5EF4-FFF2-40B4-BE49-F238E27FC236}">
                <a16:creationId xmlns:a16="http://schemas.microsoft.com/office/drawing/2014/main" id="{3910F684-91F5-162F-74E3-4BE8D93DF030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MEMBER 1</a:t>
            </a:r>
            <a:endParaRPr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191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>
              <a:defRPr sz="300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300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Tail Expression และ Semicolon</a:t>
            </a:r>
            <a:endParaRPr sz="30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62125"/>
            <a:ext cx="5000625" cy="43053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Tail Expression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คือ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Expression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ท้าย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block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ที่ไม่มี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semicolon (;)</a:t>
            </a:r>
            <a:endParaRPr lang="en-US" sz="1850"/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ค่าของ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Tail Expression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เป็นค่าของ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block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ดังนั้น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x = 8</a:t>
            </a: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เมื่อเติม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;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หลัง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5 + 3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จะกลายเป็น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Expression Statement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และไม่ใช้ค่า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8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ต่อ</a:t>
            </a: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ถ้า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block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ไม่มี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Tail Expression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และจบตามปกติ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จะได้ค่า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Unit ()</a:t>
            </a:r>
          </a:p>
        </p:txBody>
      </p:sp>
      <p:sp>
        <p:nvSpPr>
          <p:cNvPr id="6" name="Shape 4"/>
          <p:cNvSpPr/>
          <p:nvPr/>
        </p:nvSpPr>
        <p:spPr>
          <a:xfrm>
            <a:off x="5852160" y="1691640"/>
            <a:ext cx="5879592" cy="365760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042660" y="1838325"/>
            <a:ext cx="5498592" cy="34099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fn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main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x =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5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+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3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y =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5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+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"x = {}"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x);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"y = {:?}"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y);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Text 6"/>
          <p:cNvSpPr/>
          <p:nvPr/>
        </p:nvSpPr>
        <p:spPr>
          <a:xfrm>
            <a:off x="5852160" y="5457825"/>
            <a:ext cx="5879592" cy="2762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  <a:defRPr sz="142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Expected Output</a:t>
            </a:r>
            <a:endParaRPr sz="1200"/>
          </a:p>
        </p:txBody>
      </p:sp>
      <p:sp>
        <p:nvSpPr>
          <p:cNvPr id="9" name="Shape 7"/>
          <p:cNvSpPr/>
          <p:nvPr/>
        </p:nvSpPr>
        <p:spPr>
          <a:xfrm>
            <a:off x="5852160" y="5772150"/>
            <a:ext cx="5879592" cy="542925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042660" y="5819775"/>
            <a:ext cx="5498592" cy="46672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x = 8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y = ()</a:t>
            </a:r>
          </a:p>
        </p:txBody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2028EEB9-D623-23BC-E4B6-CBE4FE6FF304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000"/>
          </a:p>
        </p:txBody>
      </p:sp>
      <p:sp>
        <p:nvSpPr>
          <p:cNvPr id="16" name="Text 30">
            <a:extLst>
              <a:ext uri="{FF2B5EF4-FFF2-40B4-BE49-F238E27FC236}">
                <a16:creationId xmlns:a16="http://schemas.microsoft.com/office/drawing/2014/main" id="{9135BBB2-F07D-58FB-B63D-21BBF4CB1BCB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MEMBER 1</a:t>
            </a:r>
            <a:endParaRPr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191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>
              <a:defRPr sz="300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lang="en-US" sz="300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if </a:t>
            </a:r>
            <a:r>
              <a:rPr sz="300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Expression</a:t>
            </a:r>
            <a:endParaRPr sz="30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62125"/>
            <a:ext cx="5000625" cy="43053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 marL="342900" indent="-342900"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if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ให้ค่าจาก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branch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ที่ถูกเลือก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แล้วนำค่าไปใช้ต่อได้</a:t>
            </a:r>
            <a:endParaRPr lang="en-US" sz="1850" err="1">
              <a:solidFill>
                <a:srgbClr val="222222"/>
              </a:solidFill>
              <a:latin typeface="Noto Sans Thai"/>
              <a:ea typeface="Noto Sans Thai"/>
              <a:cs typeface="Noto Sans Thai"/>
            </a:endParaRP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ค่า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"B"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ของ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if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ทั้งก้อนถูกกำหนดให้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grade</a:t>
            </a:r>
            <a:endParaRPr lang="en-US" sz="1850">
              <a:solidFill>
                <a:srgbClr val="222222"/>
              </a:solidFill>
              <a:latin typeface="Noto Sans Thai"/>
              <a:ea typeface="Noto Sans Thai"/>
              <a:cs typeface="Noto Sans Thai"/>
            </a:endParaRP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แต่ละ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branch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ต้องให้ค่าที่มี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5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type </a:t>
            </a:r>
            <a:r>
              <a:rPr sz="1850" b="1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เข้ากันได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้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ตัวอย่างนี้เป็น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&amp;str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ทั้งหมด</a:t>
            </a:r>
            <a:endParaRPr sz="1850">
              <a:solidFill>
                <a:srgbClr val="222222"/>
              </a:solidFill>
              <a:latin typeface="Noto Sans Thai"/>
              <a:ea typeface="Noto Sans Thai"/>
              <a:cs typeface="Noto Sans Tha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852160" y="1691640"/>
            <a:ext cx="5879592" cy="365760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042660" y="1838325"/>
            <a:ext cx="5498592" cy="34099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fn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main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score =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75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grade =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if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score &gt;=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80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"A"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}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else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if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score &gt;=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70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"B"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}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else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"C"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"{}"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grade);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Text 6"/>
          <p:cNvSpPr/>
          <p:nvPr/>
        </p:nvSpPr>
        <p:spPr>
          <a:xfrm>
            <a:off x="5852160" y="5457825"/>
            <a:ext cx="5879592" cy="2762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  <a:defRPr sz="142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Expected Output</a:t>
            </a:r>
            <a:endParaRPr sz="1200"/>
          </a:p>
        </p:txBody>
      </p:sp>
      <p:sp>
        <p:nvSpPr>
          <p:cNvPr id="9" name="Shape 7"/>
          <p:cNvSpPr/>
          <p:nvPr/>
        </p:nvSpPr>
        <p:spPr>
          <a:xfrm>
            <a:off x="5852160" y="5772150"/>
            <a:ext cx="5879592" cy="542925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042660" y="5819775"/>
            <a:ext cx="5498592" cy="46672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B</a:t>
            </a:r>
          </a:p>
        </p:txBody>
      </p:sp>
      <p:sp>
        <p:nvSpPr>
          <p:cNvPr id="13" name="Text 30">
            <a:extLst>
              <a:ext uri="{FF2B5EF4-FFF2-40B4-BE49-F238E27FC236}">
                <a16:creationId xmlns:a16="http://schemas.microsoft.com/office/drawing/2014/main" id="{BF7FEA6D-98ED-6408-9084-9F24B5EEFA5F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5" name="Text 31">
            <a:extLst>
              <a:ext uri="{FF2B5EF4-FFF2-40B4-BE49-F238E27FC236}">
                <a16:creationId xmlns:a16="http://schemas.microsoft.com/office/drawing/2014/main" id="{B722ACF3-25F7-9AE7-0E55-8037F5CA700C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MEMBER 1</a:t>
            </a:r>
            <a:endParaRPr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191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>
              <a:defRPr sz="300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lang="en-US" sz="3000" b="1">
                <a:solidFill>
                  <a:srgbClr val="222222"/>
                </a:solidFill>
                <a:latin typeface="Noto Sans Thai"/>
                <a:ea typeface="Calibri"/>
                <a:cs typeface="Calibri"/>
              </a:rPr>
              <a:t>match Expression</a:t>
            </a:r>
            <a:endParaRPr sz="30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62125"/>
            <a:ext cx="5000625" cy="43053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match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ให้ค่าจาก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arm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ที่ตรงกับค่าที่นำมาตรวจ</a:t>
            </a:r>
            <a:endParaRPr lang="en-US" sz="1850" err="1"/>
          </a:p>
          <a:p>
            <a:pPr marL="342900" indent="-342900"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lang="en-US" sz="1850">
                <a:solidFill>
                  <a:srgbClr val="222222"/>
                </a:solidFill>
                <a:latin typeface="Noto Sans Thai"/>
              </a:rPr>
              <a:t>arm</a:t>
            </a:r>
            <a:r>
              <a:rPr lang="th-TH" sz="1850">
                <a:solidFill>
                  <a:srgbClr val="222222"/>
                </a:solidFill>
                <a:latin typeface="Noto Sans Thai"/>
              </a:rPr>
              <a:t> คือแต่ละกรณี เช่น</a:t>
            </a:r>
            <a:r>
              <a:rPr lang="en-US" sz="1850">
                <a:solidFill>
                  <a:srgbClr val="222222"/>
                </a:solidFill>
                <a:latin typeface="Noto Sans Thai"/>
              </a:rPr>
              <a:t> 2 =&gt; 2</a:t>
            </a:r>
            <a:r>
              <a:rPr lang="th-TH" sz="1850">
                <a:solidFill>
                  <a:srgbClr val="222222"/>
                </a:solidFill>
                <a:latin typeface="Noto Sans Thai"/>
              </a:rPr>
              <a:t> ส่วน _ รองรับกรณีที่เหลือ</a:t>
            </a:r>
            <a:endParaRPr lang="en-US"/>
          </a:p>
          <a:p>
            <a:pPr marL="342900" indent="-342900"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lang="th-TH"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แต่เมื่อ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lang="en-US"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return type </a:t>
            </a:r>
            <a:r>
              <a:rPr lang="en-US"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ต่างชนิดกันทำให้เกิด</a:t>
            </a:r>
            <a:r>
              <a:rPr lang="en-US"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lang="en-US" sz="1850">
                <a:ea typeface="+mn-lt"/>
                <a:cs typeface="+mn-lt"/>
              </a:rPr>
              <a:t>compile error</a:t>
            </a:r>
            <a:endParaRPr lang="th-TH" sz="1850" err="1">
              <a:ea typeface="+mn-lt"/>
              <a:cs typeface="+mn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852160" y="1691640"/>
            <a:ext cx="5879592" cy="365760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042660" y="1838325"/>
            <a:ext cx="5498592" cy="34099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err="1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fn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main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number =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text =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match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number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=&gt; 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"One"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>
            <a:pPr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=&gt;</a:t>
            </a:r>
            <a:r>
              <a:rPr lang="en-US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2,        </a:t>
            </a:r>
            <a:r>
              <a:rPr lang="en-US" sz="1650">
                <a:solidFill>
                  <a:schemeClr val="bg1">
                    <a:lumMod val="65000"/>
                  </a:schemeClr>
                </a:solidFill>
                <a:latin typeface="DejaVu Sans Mono"/>
                <a:ea typeface="DejaVu Sans Mono"/>
                <a:cs typeface="DejaVu Sans Mono"/>
              </a:rPr>
              <a:t>      //compile error</a:t>
            </a:r>
            <a:endParaRPr sz="1650">
              <a:solidFill>
                <a:schemeClr val="bg1">
                  <a:lumMod val="65000"/>
                </a:schemeClr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_ =&gt; 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"Other"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 err="1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"{}"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text);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Text 6"/>
          <p:cNvSpPr/>
          <p:nvPr/>
        </p:nvSpPr>
        <p:spPr>
          <a:xfrm>
            <a:off x="5852160" y="5457825"/>
            <a:ext cx="5879592" cy="2762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  <a:defRPr sz="142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Expected Output</a:t>
            </a:r>
            <a:endParaRPr sz="1200"/>
          </a:p>
        </p:txBody>
      </p:sp>
      <p:sp>
        <p:nvSpPr>
          <p:cNvPr id="9" name="Shape 7"/>
          <p:cNvSpPr/>
          <p:nvPr/>
        </p:nvSpPr>
        <p:spPr>
          <a:xfrm>
            <a:off x="5852160" y="5772150"/>
            <a:ext cx="5879592" cy="542925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042660" y="5819775"/>
            <a:ext cx="5498592" cy="46672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def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sz="1550">
                <a:solidFill>
                  <a:srgbClr val="F4F4F4"/>
                </a:solidFill>
                <a:ea typeface="+mn-lt"/>
                <a:cs typeface="+mn-lt"/>
              </a:rPr>
              <a:t>error: could not compile</a:t>
            </a:r>
            <a:endParaRPr lang="en-US"/>
          </a:p>
        </p:txBody>
      </p:sp>
      <p:sp>
        <p:nvSpPr>
          <p:cNvPr id="13" name="Text 30">
            <a:extLst>
              <a:ext uri="{FF2B5EF4-FFF2-40B4-BE49-F238E27FC236}">
                <a16:creationId xmlns:a16="http://schemas.microsoft.com/office/drawing/2014/main" id="{C8E7E24C-7382-F188-26BC-DDAA3B154DEC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5" name="Text 31">
            <a:extLst>
              <a:ext uri="{FF2B5EF4-FFF2-40B4-BE49-F238E27FC236}">
                <a16:creationId xmlns:a16="http://schemas.microsoft.com/office/drawing/2014/main" id="{5A917834-CB74-6FD7-0AA0-70BD47117FC7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9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MEMBER 1</a:t>
            </a:r>
            <a:endParaRPr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191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>
              <a:defRPr sz="300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300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loop Expression</a:t>
            </a:r>
            <a:endParaRPr lang="en-US" sz="3000" b="1">
              <a:latin typeface="Noto Sans Tha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62125"/>
            <a:ext cx="5000625" cy="43053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loop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เป็น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control flow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อีกชนิดหนึ่งที่ใช้เป็น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Expression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และให้ค่าได้</a:t>
            </a:r>
            <a:endParaRPr lang="en-US" sz="1850"/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break 10;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หยุด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loop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และส่งค่า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10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ออกมาเป็นค่าของ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loop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ทั้งก้อน</a:t>
            </a:r>
            <a:endParaRPr sz="1850">
              <a:solidFill>
                <a:srgbClr val="222222"/>
              </a:solidFill>
              <a:latin typeface="Noto Sans Thai"/>
              <a:ea typeface="Noto Sans Thai"/>
              <a:cs typeface="Noto Sans Thai"/>
            </a:endParaRP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result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จึงมีค่า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10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และนำไปใช้งานต่อได้</a:t>
            </a:r>
          </a:p>
        </p:txBody>
      </p:sp>
      <p:sp>
        <p:nvSpPr>
          <p:cNvPr id="6" name="Shape 4"/>
          <p:cNvSpPr/>
          <p:nvPr/>
        </p:nvSpPr>
        <p:spPr>
          <a:xfrm>
            <a:off x="5852160" y="1691640"/>
            <a:ext cx="5879592" cy="365760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042660" y="1838325"/>
            <a:ext cx="5498592" cy="34099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fn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main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result =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loop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break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10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"{}"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result);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Text 6"/>
          <p:cNvSpPr/>
          <p:nvPr/>
        </p:nvSpPr>
        <p:spPr>
          <a:xfrm>
            <a:off x="5852160" y="5457825"/>
            <a:ext cx="5879592" cy="2762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  <a:defRPr sz="142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Expected Output</a:t>
            </a:r>
            <a:endParaRPr sz="1200"/>
          </a:p>
        </p:txBody>
      </p:sp>
      <p:sp>
        <p:nvSpPr>
          <p:cNvPr id="9" name="Shape 7"/>
          <p:cNvSpPr/>
          <p:nvPr/>
        </p:nvSpPr>
        <p:spPr>
          <a:xfrm>
            <a:off x="5852160" y="5772150"/>
            <a:ext cx="5879592" cy="542925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042660" y="5819775"/>
            <a:ext cx="5498592" cy="46672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10</a:t>
            </a:r>
          </a:p>
        </p:txBody>
      </p:sp>
      <p:sp>
        <p:nvSpPr>
          <p:cNvPr id="13" name="Text 30">
            <a:extLst>
              <a:ext uri="{FF2B5EF4-FFF2-40B4-BE49-F238E27FC236}">
                <a16:creationId xmlns:a16="http://schemas.microsoft.com/office/drawing/2014/main" id="{2476327B-809C-B36B-DBD3-7127B6E62319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5" name="Text 31">
            <a:extLst>
              <a:ext uri="{FF2B5EF4-FFF2-40B4-BE49-F238E27FC236}">
                <a16:creationId xmlns:a16="http://schemas.microsoft.com/office/drawing/2014/main" id="{6A39E5D5-BEED-B912-8255-1F259DF99068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4">
            <a:extLst>
              <a:ext uri="{FF2B5EF4-FFF2-40B4-BE49-F238E27FC236}">
                <a16:creationId xmlns:a16="http://schemas.microsoft.com/office/drawing/2014/main" id="{AFF2DE2F-BA66-D8E9-26FF-0097E128DCBE}"/>
              </a:ext>
            </a:extLst>
          </p:cNvPr>
          <p:cNvSpPr/>
          <p:nvPr/>
        </p:nvSpPr>
        <p:spPr>
          <a:xfrm>
            <a:off x="6401957" y="2038880"/>
            <a:ext cx="5107947" cy="2451904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A446A191-A3FA-2089-7736-81F185B18835}"/>
              </a:ext>
            </a:extLst>
          </p:cNvPr>
          <p:cNvSpPr/>
          <p:nvPr/>
        </p:nvSpPr>
        <p:spPr>
          <a:xfrm>
            <a:off x="604970" y="2038881"/>
            <a:ext cx="5107947" cy="2451904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MEMBER 1</a:t>
            </a:r>
            <a:endParaRPr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191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>
              <a:defRPr sz="300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lang="en-US" sz="3000" b="1">
                <a:solidFill>
                  <a:srgbClr val="0F172A"/>
                </a:solidFill>
                <a:ea typeface="+mn-lt"/>
                <a:cs typeface="+mn-lt"/>
              </a:rPr>
              <a:t>Why Expression-Oriented?</a:t>
            </a:r>
            <a:endParaRPr lang="en-US" sz="30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" name="Text 30">
            <a:extLst>
              <a:ext uri="{FF2B5EF4-FFF2-40B4-BE49-F238E27FC236}">
                <a16:creationId xmlns:a16="http://schemas.microsoft.com/office/drawing/2014/main" id="{3910F684-91F5-162F-74E3-4BE8D93DF030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8" name="Text 31">
            <a:extLst>
              <a:ext uri="{FF2B5EF4-FFF2-40B4-BE49-F238E27FC236}">
                <a16:creationId xmlns:a16="http://schemas.microsoft.com/office/drawing/2014/main" id="{1DA522AD-C1E3-50E0-0C8E-D25774CF80E6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6F206A-393D-14E1-8CC4-393FA06515E1}"/>
              </a:ext>
            </a:extLst>
          </p:cNvPr>
          <p:cNvSpPr txBox="1"/>
          <p:nvPr/>
        </p:nvSpPr>
        <p:spPr>
          <a:xfrm>
            <a:off x="453342" y="1577051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>
                <a:solidFill>
                  <a:srgbClr val="64748B"/>
                </a:solidFill>
                <a:latin typeface="Noto Sans Thai"/>
              </a:rPr>
              <a:t>เปรียบเทียบการสร้างค่า price</a:t>
            </a:r>
            <a:r>
              <a:rPr sz="1800" b="0" i="0">
                <a:solidFill>
                  <a:srgbClr val="000000"/>
                </a:solidFill>
                <a:latin typeface="Noto Sans Thai"/>
                <a:ea typeface="Noto Sans Thai"/>
                <a:cs typeface="Noto Sans Thai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9" name="mutable-code-label">
            <a:extLst>
              <a:ext uri="{FF2B5EF4-FFF2-40B4-BE49-F238E27FC236}">
                <a16:creationId xmlns:a16="http://schemas.microsoft.com/office/drawing/2014/main" id="{BE0C7B0B-D86C-4ED2-A35E-FA8C38A19354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46767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50" b="1">
                <a:solidFill>
                  <a:srgbClr val="7DD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7DD3FC"/>
                </a:solidFill>
                <a:latin typeface="DejaVu Sans Mono"/>
                <a:ea typeface="DejaVu Sans Mono"/>
                <a:cs typeface="DejaVu Sans Mono"/>
              </a:rPr>
              <a:t>เปลี่ยนค่าภายหลัง</a:t>
            </a:r>
          </a:p>
        </p:txBody>
      </p:sp>
      <p:sp>
        <p:nvSpPr>
          <p:cNvPr id="10" name="mutable-code-text">
            <a:extLst>
              <a:ext uri="{FF2B5EF4-FFF2-40B4-BE49-F238E27FC236}">
                <a16:creationId xmlns:a16="http://schemas.microsoft.com/office/drawing/2014/main" id="{1A3EE799-7469-4F67-8C53-871FB9343292}"/>
              </a:ext>
            </a:extLst>
          </p:cNvPr>
          <p:cNvSpPr>
            <a:spLocks noGrp="1"/>
          </p:cNvSpPr>
          <p:nvPr/>
        </p:nvSpPr>
        <p:spPr>
          <a:xfrm>
            <a:off x="819150" y="2495550"/>
            <a:ext cx="4676775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mut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price = </a:t>
            </a:r>
            <a:r>
              <a:rPr sz="1350">
                <a:solidFill>
                  <a:srgbClr val="FDE68A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if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is_member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price = </a:t>
            </a:r>
            <a:r>
              <a:rPr sz="1350">
                <a:solidFill>
                  <a:srgbClr val="FDE68A"/>
                </a:solidFill>
                <a:latin typeface="DejaVu Sans Mono"/>
                <a:ea typeface="DejaVu Sans Mono"/>
                <a:cs typeface="DejaVu Sans Mono"/>
              </a:rPr>
              <a:t>80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} </a:t>
            </a: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else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price = </a:t>
            </a:r>
            <a:r>
              <a:rPr sz="1350">
                <a:solidFill>
                  <a:srgbClr val="FDE68A"/>
                </a:solidFill>
                <a:latin typeface="DejaVu Sans Mono"/>
                <a:ea typeface="DejaVu Sans Mono"/>
                <a:cs typeface="DejaVu Sans Mono"/>
              </a:rPr>
              <a:t>100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1" name="expression-code-label">
            <a:extLst>
              <a:ext uri="{FF2B5EF4-FFF2-40B4-BE49-F238E27FC236}">
                <a16:creationId xmlns:a16="http://schemas.microsoft.com/office/drawing/2014/main" id="{A94914EF-1810-4CE2-855B-B5EABE9BB5F5}"/>
              </a:ext>
            </a:extLst>
          </p:cNvPr>
          <p:cNvSpPr>
            <a:spLocks noGrp="1"/>
          </p:cNvSpPr>
          <p:nvPr/>
        </p:nvSpPr>
        <p:spPr>
          <a:xfrm>
            <a:off x="6696075" y="2152650"/>
            <a:ext cx="46767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50" b="1">
                <a:solidFill>
                  <a:srgbClr val="7DD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7DD3FC"/>
                </a:solidFill>
                <a:latin typeface="DejaVu Sans Mono"/>
                <a:ea typeface="DejaVu Sans Mono"/>
                <a:cs typeface="DejaVu Sans Mono"/>
              </a:rPr>
              <a:t>สร้างค่าจาก EXPRESSION โดยตรง</a:t>
            </a:r>
          </a:p>
        </p:txBody>
      </p:sp>
      <p:sp>
        <p:nvSpPr>
          <p:cNvPr id="12" name="expression-code-text">
            <a:extLst>
              <a:ext uri="{FF2B5EF4-FFF2-40B4-BE49-F238E27FC236}">
                <a16:creationId xmlns:a16="http://schemas.microsoft.com/office/drawing/2014/main" id="{A489DCE2-72BD-46DC-B273-9CB9EAF586D7}"/>
              </a:ext>
            </a:extLst>
          </p:cNvPr>
          <p:cNvSpPr>
            <a:spLocks noGrp="1"/>
          </p:cNvSpPr>
          <p:nvPr/>
        </p:nvSpPr>
        <p:spPr>
          <a:xfrm>
            <a:off x="6696075" y="2495550"/>
            <a:ext cx="4676775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price = </a:t>
            </a: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if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is_member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350">
                <a:solidFill>
                  <a:srgbClr val="FDE68A"/>
                </a:solidFill>
                <a:latin typeface="DejaVu Sans Mono"/>
                <a:ea typeface="DejaVu Sans Mono"/>
                <a:cs typeface="DejaVu Sans Mono"/>
              </a:rPr>
              <a:t>80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} </a:t>
            </a: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else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350">
                <a:solidFill>
                  <a:srgbClr val="FDE68A"/>
                </a:solidFill>
                <a:latin typeface="DejaVu Sans Mono"/>
                <a:ea typeface="DejaVu Sans Mono"/>
                <a:cs typeface="DejaVu Sans Mono"/>
              </a:rPr>
              <a:t>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</p:txBody>
      </p:sp>
      <p:sp>
        <p:nvSpPr>
          <p:cNvPr id="14" name="สี่เหลี่ยมผืนผ้า 12">
            <a:extLst>
              <a:ext uri="{FF2B5EF4-FFF2-40B4-BE49-F238E27FC236}">
                <a16:creationId xmlns:a16="http://schemas.microsoft.com/office/drawing/2014/main" id="{574D8BED-C3E6-4E1B-92D7-9EEA68B59484}"/>
              </a:ext>
            </a:extLst>
          </p:cNvPr>
          <p:cNvSpPr>
            <a:spLocks noGrp="1"/>
          </p:cNvSpPr>
          <p:nvPr/>
        </p:nvSpPr>
        <p:spPr>
          <a:xfrm>
            <a:off x="609600" y="4787820"/>
            <a:ext cx="509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ต้องประกาศ mutable variable ก่อน แล้วเปลี่ยนค่าในแต่ละ branch</a:t>
            </a:r>
          </a:p>
        </p:txBody>
      </p:sp>
      <p:sp>
        <p:nvSpPr>
          <p:cNvPr id="15" name="สี่เหลี่ยมผืนผ้า 13">
            <a:extLst>
              <a:ext uri="{FF2B5EF4-FFF2-40B4-BE49-F238E27FC236}">
                <a16:creationId xmlns:a16="http://schemas.microsoft.com/office/drawing/2014/main" id="{5B8B33EB-0657-4CB6-8072-AD0535208B45}"/>
              </a:ext>
            </a:extLst>
          </p:cNvPr>
          <p:cNvSpPr>
            <a:spLocks noGrp="1"/>
          </p:cNvSpPr>
          <p:nvPr/>
        </p:nvSpPr>
        <p:spPr>
          <a:xfrm>
            <a:off x="6486525" y="4787820"/>
            <a:ext cx="50958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กำหนด value จาก if ให้ price โดยตรง ลด mutable state ที่ไม่จำเป็น และติดตามที่มาของค่าได้ง่ายขึ้น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A90CE-EBB7-162A-CBBB-DB2BA518A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4">
            <a:extLst>
              <a:ext uri="{FF2B5EF4-FFF2-40B4-BE49-F238E27FC236}">
                <a16:creationId xmlns:a16="http://schemas.microsoft.com/office/drawing/2014/main" id="{E7F5B1FE-FBBD-5DF6-A872-56794B65B18E}"/>
              </a:ext>
            </a:extLst>
          </p:cNvPr>
          <p:cNvSpPr/>
          <p:nvPr/>
        </p:nvSpPr>
        <p:spPr>
          <a:xfrm>
            <a:off x="5852160" y="1344400"/>
            <a:ext cx="5879592" cy="400484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E0B92373-FED7-8F89-929D-8E7967569E2B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DC2C74-A273-E4C8-F670-3E4B44EA51E6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MEMBER 1</a:t>
            </a:r>
            <a:endParaRPr sz="1300"/>
          </a:p>
        </p:txBody>
      </p:sp>
      <p:sp>
        <p:nvSpPr>
          <p:cNvPr id="6" name="Text 30">
            <a:extLst>
              <a:ext uri="{FF2B5EF4-FFF2-40B4-BE49-F238E27FC236}">
                <a16:creationId xmlns:a16="http://schemas.microsoft.com/office/drawing/2014/main" id="{24E7FB25-79BA-B7A3-B84A-E51C4789358B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8" name="Text 31">
            <a:extLst>
              <a:ext uri="{FF2B5EF4-FFF2-40B4-BE49-F238E27FC236}">
                <a16:creationId xmlns:a16="http://schemas.microsoft.com/office/drawing/2014/main" id="{7FFDF3E9-5498-17CA-CC1B-9FF0E9B4EF24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0FAFFC-7604-1D15-771B-9DE717067256}"/>
              </a:ext>
            </a:extLst>
          </p:cNvPr>
          <p:cNvSpPr txBox="1"/>
          <p:nvPr/>
        </p:nvSpPr>
        <p:spPr>
          <a:xfrm>
            <a:off x="453342" y="1577051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>
                <a:solidFill>
                  <a:srgbClr val="64748B"/>
                </a:solidFill>
                <a:latin typeface="Noto Sans Thai"/>
              </a:rPr>
              <a:t>เปรียบเทียบการสร้างค่า price</a:t>
            </a:r>
            <a:r>
              <a:rPr sz="1800" b="0" i="0">
                <a:solidFill>
                  <a:srgbClr val="000000"/>
                </a:solidFill>
                <a:latin typeface="Noto Sans Thai"/>
                <a:ea typeface="Noto Sans Thai"/>
                <a:cs typeface="Noto Sans Thai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1AF3A6F6-638A-4F56-8925-B9DC93611FCA}"/>
              </a:ext>
            </a:extLst>
          </p:cNvPr>
          <p:cNvSpPr>
            <a:spLocks noGrp="1"/>
          </p:cNvSpPr>
          <p:nvPr/>
        </p:nvSpPr>
        <p:spPr>
          <a:xfrm>
            <a:off x="522790" y="1091155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000" b="1">
                <a:solidFill>
                  <a:srgbClr val="0F172A"/>
                </a:solidFill>
                <a:latin typeface="Noto Sans Thai"/>
                <a:ea typeface="Noto Sans Thai"/>
                <a:cs typeface="Noto Sans Thai"/>
              </a:defRPr>
            </a:pPr>
            <a:r>
              <a:rPr sz="3000" b="1">
                <a:solidFill>
                  <a:srgbClr val="0F172A"/>
                </a:solidFill>
                <a:latin typeface="Noto Sans Thai"/>
                <a:ea typeface="Noto Sans Thai"/>
                <a:cs typeface="Noto Sans Thai"/>
              </a:rPr>
              <a:t>Expression Composition</a:t>
            </a:r>
          </a:p>
        </p:txBody>
      </p:sp>
      <p:sp>
        <p:nvSpPr>
          <p:cNvPr id="13" name="สี่เหลี่ยมผืนผ้า 5">
            <a:extLst>
              <a:ext uri="{FF2B5EF4-FFF2-40B4-BE49-F238E27FC236}">
                <a16:creationId xmlns:a16="http://schemas.microsoft.com/office/drawing/2014/main" id="{E6379155-6910-4E64-955B-CE39D12F44DD}"/>
              </a:ext>
            </a:extLst>
          </p:cNvPr>
          <p:cNvSpPr>
            <a:spLocks noGrp="1"/>
          </p:cNvSpPr>
          <p:nvPr/>
        </p:nvSpPr>
        <p:spPr>
          <a:xfrm>
            <a:off x="667473" y="2226921"/>
            <a:ext cx="476250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spcBef>
                <a:spcPts val="0"/>
              </a:spcBef>
              <a:spcAft>
                <a:spcPts val="1650"/>
              </a:spcAft>
              <a:buFont typeface="Arial"/>
              <a:buChar char="•"/>
              <a:defRPr sz="1800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ผลลัพธ์ของ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Expression </a:t>
            </a: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นำไปเป็นส่วนหนึ่งของ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Expression </a:t>
            </a: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อื่นได้โดยตรง</a:t>
            </a:r>
            <a:endParaRPr lang="en-US" err="1"/>
          </a:p>
          <a:p>
            <a:pPr marL="285750" indent="-285750" algn="l">
              <a:spcBef>
                <a:spcPts val="0"/>
              </a:spcBef>
              <a:spcAft>
                <a:spcPts val="1650"/>
              </a:spcAft>
              <a:buFont typeface="Arial"/>
              <a:buChar char="•"/>
              <a:defRPr sz="1800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เมื่อ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is_member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เป็น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true </a:t>
            </a: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ค่า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if </a:t>
            </a: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คือ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80</a:t>
            </a:r>
          </a:p>
          <a:p>
            <a:pPr marL="285750" indent="-285750" algn="l">
              <a:spcBef>
                <a:spcPts val="0"/>
              </a:spcBef>
              <a:spcAft>
                <a:spcPts val="1650"/>
              </a:spcAft>
              <a:buFont typeface="Arial"/>
              <a:buChar char="•"/>
              <a:defRPr sz="1800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ค่านี้ถูกนำไปคูณกับ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quantity </a:t>
            </a: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ทันที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โดยไม่ต้องสร้างตัวแปร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price </a:t>
            </a: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ก่อน</a:t>
            </a:r>
          </a:p>
          <a:p>
            <a:pPr marL="285750" indent="-285750" algn="l">
              <a:spcBef>
                <a:spcPts val="0"/>
              </a:spcBef>
              <a:spcAft>
                <a:spcPts val="1650"/>
              </a:spcAft>
              <a:buFont typeface="Arial"/>
              <a:buChar char="•"/>
              <a:defRPr sz="1800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ดังนั้น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total = 3 × 80 = 240</a:t>
            </a:r>
          </a:p>
        </p:txBody>
      </p:sp>
      <p:sp>
        <p:nvSpPr>
          <p:cNvPr id="16" name="code-label">
            <a:extLst>
              <a:ext uri="{FF2B5EF4-FFF2-40B4-BE49-F238E27FC236}">
                <a16:creationId xmlns:a16="http://schemas.microsoft.com/office/drawing/2014/main" id="{F7EF2C19-DF52-491F-A594-5DBC8F6A47A1}"/>
              </a:ext>
            </a:extLst>
          </p:cNvPr>
          <p:cNvSpPr>
            <a:spLocks noGrp="1"/>
          </p:cNvSpPr>
          <p:nvPr/>
        </p:nvSpPr>
        <p:spPr>
          <a:xfrm>
            <a:off x="6019800" y="1676400"/>
            <a:ext cx="5353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50" b="1">
                <a:solidFill>
                  <a:srgbClr val="7DD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7DD3FC"/>
                </a:solidFill>
                <a:latin typeface="DejaVu Sans Mono"/>
                <a:ea typeface="DejaVu Sans Mono"/>
                <a:cs typeface="DejaVu Sans Mono"/>
              </a:rPr>
              <a:t>ONE EXPRESSION INSIDE ANOTHER</a:t>
            </a:r>
          </a:p>
        </p:txBody>
      </p:sp>
      <p:sp>
        <p:nvSpPr>
          <p:cNvPr id="19" name="code-text">
            <a:extLst>
              <a:ext uri="{FF2B5EF4-FFF2-40B4-BE49-F238E27FC236}">
                <a16:creationId xmlns:a16="http://schemas.microsoft.com/office/drawing/2014/main" id="{4E3173E7-2808-467D-875D-3EF7243FB9B3}"/>
              </a:ext>
            </a:extLst>
          </p:cNvPr>
          <p:cNvSpPr>
            <a:spLocks noGrp="1"/>
          </p:cNvSpPr>
          <p:nvPr/>
        </p:nvSpPr>
        <p:spPr>
          <a:xfrm>
            <a:off x="6019800" y="2019300"/>
            <a:ext cx="5353050" cy="3686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fn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350">
                <a:solidFill>
                  <a:srgbClr val="67E8F9"/>
                </a:solidFill>
                <a:latin typeface="DejaVu Sans Mono"/>
                <a:ea typeface="DejaVu Sans Mono"/>
                <a:cs typeface="DejaVu Sans Mono"/>
              </a:rPr>
              <a:t>main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()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is_member = true;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quantity = </a:t>
            </a:r>
            <a:r>
              <a:rPr sz="1350">
                <a:solidFill>
                  <a:srgbClr val="FDE68A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total = quantity * </a:t>
            </a: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if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is_member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350">
                <a:solidFill>
                  <a:srgbClr val="FDE68A"/>
                </a:solidFill>
                <a:latin typeface="DejaVu Sans Mono"/>
                <a:ea typeface="DejaVu Sans Mono"/>
                <a:cs typeface="DejaVu Sans Mono"/>
              </a:rPr>
              <a:t>80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} </a:t>
            </a: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else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350">
                <a:solidFill>
                  <a:srgbClr val="FDE68A"/>
                </a:solidFill>
                <a:latin typeface="DejaVu Sans Mono"/>
                <a:ea typeface="DejaVu Sans Mono"/>
                <a:cs typeface="DejaVu Sans Mono"/>
              </a:rPr>
              <a:t>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};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350">
                <a:solidFill>
                  <a:srgbClr val="67E8F9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sz="1350">
                <a:solidFill>
                  <a:srgbClr val="86EFAC"/>
                </a:solidFill>
                <a:latin typeface="DejaVu Sans Mono"/>
                <a:ea typeface="DejaVu Sans Mono"/>
                <a:cs typeface="DejaVu Sans Mono"/>
              </a:rPr>
              <a:t>"{}"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, total);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885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MEMBER 2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85265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22222"/>
                </a:solidFill>
                <a:latin typeface="Calibri"/>
                <a:ea typeface="Calibri"/>
                <a:cs typeface="+mn-lt"/>
              </a:rPr>
              <a:t>Example 1  </a:t>
            </a:r>
            <a:r>
              <a:rPr lang="en-US" sz="3000" b="1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การใช้</a:t>
            </a: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Block Expression </a:t>
            </a:r>
            <a:r>
              <a:rPr lang="en-US" sz="3000" b="1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ในการคืนค่า</a:t>
            </a: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(Return Value)</a:t>
            </a:r>
            <a:endParaRPr lang="th-TH">
              <a:ea typeface="Calibri"/>
              <a:cs typeface="Cordia New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492240" cy="3566160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0886"/>
            <a:ext cx="6035040" cy="356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4999"/>
              </a:lnSpc>
            </a:pPr>
            <a:r>
              <a:rPr lang="en-US" sz="1000" err="1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fn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</a:t>
            </a:r>
            <a:r>
              <a:rPr lang="en-US" sz="1000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main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() {
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let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score =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85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;
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    // Block Expression: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คืนค่า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String slice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เข้าตัวแปร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grade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โดยตรง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
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let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grade = {
    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let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bonus =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5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;
    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let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</a:t>
            </a:r>
            <a:r>
              <a:rPr lang="en-US" sz="1000" err="1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total_score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= score + bonus;
        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//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ไม่ใส่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Semicolon (;)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เพื่อให้เป็น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Expression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คืนค่าออกไป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
    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if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</a:t>
            </a:r>
            <a:r>
              <a:rPr lang="en-US" sz="1000" err="1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total_score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&gt;=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80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{
            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"A"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
        }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else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if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</a:t>
            </a:r>
            <a:r>
              <a:rPr lang="en-US" sz="1000" err="1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total_score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&gt;=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70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{
            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"B"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
        }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else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{
            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"F"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
        }
    };
 </a:t>
            </a:r>
            <a:r>
              <a:rPr lang="en-US" sz="1000" err="1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println</a:t>
            </a:r>
            <a:r>
              <a:rPr lang="en-US" sz="1000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!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(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"Total calculated grade: {}"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, grade);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
}</a:t>
            </a:r>
            <a:endParaRPr lang="th-TH" sz="1000">
              <a:solidFill>
                <a:srgbClr val="F0F6FC"/>
              </a:solidFill>
              <a:highlight>
                <a:srgbClr val="151B23"/>
              </a:highlight>
              <a:latin typeface="Consola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223760" y="1691640"/>
            <a:ext cx="4507992" cy="3566160"/>
          </a:xfrm>
          <a:prstGeom prst="roundRect">
            <a:avLst>
              <a:gd name="adj" fmla="val 2051"/>
            </a:avLst>
          </a:prstGeom>
          <a:solidFill>
            <a:srgbClr val="F7F0F0"/>
          </a:solidFill>
          <a:ln/>
        </p:spPr>
      </p:sp>
      <p:sp>
        <p:nvSpPr>
          <p:cNvPr id="8" name="Text 6"/>
          <p:cNvSpPr/>
          <p:nvPr/>
        </p:nvSpPr>
        <p:spPr>
          <a:xfrm>
            <a:off x="7452360" y="187452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  <a:latin typeface="Cordia New"/>
                <a:ea typeface="Cambria"/>
                <a:cs typeface="Cordia New"/>
              </a:rPr>
              <a:t>Demo Checklist</a:t>
            </a:r>
            <a:r>
              <a:rPr lang="th-TH" b="1">
                <a:solidFill>
                  <a:srgbClr val="C00000"/>
                </a:solidFill>
                <a:latin typeface="Cordia New"/>
                <a:ea typeface="Cambria"/>
                <a:cs typeface="Cordia New"/>
              </a:rPr>
              <a:t> </a:t>
            </a:r>
            <a:endParaRPr lang="th-TH">
              <a:solidFill>
                <a:srgbClr val="C00000"/>
              </a:solidFill>
              <a:latin typeface="Cordia New"/>
              <a:ea typeface="Cambria"/>
              <a:cs typeface="Cordia New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52359" y="2244610"/>
            <a:ext cx="4381317" cy="1615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600" err="1">
                <a:latin typeface="Cordia New"/>
                <a:ea typeface="+mn-lt"/>
                <a:cs typeface="Cordia New"/>
              </a:rPr>
              <a:t>กำหนดคะแนน</a:t>
            </a:r>
            <a:r>
              <a:rPr lang="en-US" sz="1600">
                <a:latin typeface="Cordia New"/>
                <a:ea typeface="+mn-lt"/>
                <a:cs typeface="Cordia New"/>
              </a:rPr>
              <a:t> </a:t>
            </a:r>
            <a:r>
              <a:rPr lang="en-US" sz="1600">
                <a:latin typeface="Cordia New"/>
                <a:ea typeface="Calibri"/>
                <a:cs typeface="Cordia New"/>
              </a:rPr>
              <a:t> score</a:t>
            </a:r>
            <a:r>
              <a:rPr lang="en-US" sz="1600">
                <a:latin typeface="Cordia New"/>
                <a:ea typeface="+mn-lt"/>
                <a:cs typeface="Cordia New"/>
              </a:rPr>
              <a:t> = 85</a:t>
            </a:r>
            <a:endParaRPr lang="th-TH" sz="1600">
              <a:latin typeface="Cordia New"/>
              <a:ea typeface="+mn-lt"/>
              <a:cs typeface="Cordia New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600" err="1">
                <a:latin typeface="Cordia New"/>
                <a:ea typeface="+mn-lt"/>
                <a:cs typeface="Cordia New"/>
              </a:rPr>
              <a:t>คำนวณ</a:t>
            </a:r>
            <a:r>
              <a:rPr lang="en-US" sz="1600" err="1">
                <a:latin typeface="Cordia New"/>
                <a:ea typeface="Calibri"/>
                <a:cs typeface="Cordia New"/>
              </a:rPr>
              <a:t>คะแนนรวม</a:t>
            </a:r>
            <a:r>
              <a:rPr lang="en-US" sz="1600">
                <a:latin typeface="Cordia New"/>
                <a:ea typeface="Calibri"/>
                <a:cs typeface="Cordia New"/>
              </a:rPr>
              <a:t>  </a:t>
            </a:r>
            <a:r>
              <a:rPr lang="en-US" sz="1600" err="1">
                <a:latin typeface="Cordia New"/>
                <a:ea typeface="Calibri"/>
                <a:cs typeface="Cordia New"/>
              </a:rPr>
              <a:t>total_score</a:t>
            </a:r>
            <a:r>
              <a:rPr lang="en-US" sz="1600">
                <a:latin typeface="Cordia New"/>
                <a:ea typeface="+mn-lt"/>
                <a:cs typeface="Cordia New"/>
              </a:rPr>
              <a:t> = score + bonus</a:t>
            </a:r>
            <a:endParaRPr lang="th-TH" sz="1600">
              <a:latin typeface="Cordia New"/>
              <a:ea typeface="Calibri"/>
              <a:cs typeface="Cordia New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600" err="1">
                <a:latin typeface="Cordia New"/>
                <a:ea typeface="Calibri"/>
                <a:cs typeface="Cordia New"/>
              </a:rPr>
              <a:t>ตรวจสอบ</a:t>
            </a:r>
            <a:r>
              <a:rPr lang="en-US" sz="1600">
                <a:latin typeface="Cordia New"/>
                <a:ea typeface="Calibri"/>
                <a:cs typeface="Cordia New"/>
              </a:rPr>
              <a:t> Grade </a:t>
            </a:r>
            <a:r>
              <a:rPr lang="en-US" sz="1600" err="1">
                <a:latin typeface="Cordia New"/>
                <a:ea typeface="Calibri"/>
                <a:cs typeface="Cordia New"/>
              </a:rPr>
              <a:t>ด้วย</a:t>
            </a:r>
            <a:r>
              <a:rPr lang="en-US" sz="1600">
                <a:latin typeface="Cordia New"/>
                <a:ea typeface="Calibri"/>
                <a:cs typeface="Cordia New"/>
              </a:rPr>
              <a:t> if-else</a:t>
            </a:r>
            <a:endParaRPr lang="th-TH" sz="1600">
              <a:latin typeface="Cordia New"/>
              <a:ea typeface="Calibri"/>
              <a:cs typeface="Cordia New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600">
                <a:latin typeface="Cordia New"/>
                <a:ea typeface="Calibri"/>
                <a:cs typeface="Cordia New"/>
              </a:rPr>
              <a:t>Run</a:t>
            </a:r>
            <a:r>
              <a:rPr lang="en-US" sz="1600"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latin typeface="Cordia New"/>
                <a:ea typeface="+mn-lt"/>
                <a:cs typeface="Cordia New"/>
              </a:rPr>
              <a:t>โปรแกรม</a:t>
            </a:r>
            <a:r>
              <a:rPr lang="en-US" sz="1600">
                <a:latin typeface="Cordia New"/>
                <a:ea typeface="+mn-lt"/>
                <a:cs typeface="Cordia New"/>
              </a:rPr>
              <a:t> → </a:t>
            </a:r>
            <a:r>
              <a:rPr lang="en-US" sz="1600" err="1">
                <a:latin typeface="Cordia New"/>
                <a:ea typeface="+mn-lt"/>
                <a:cs typeface="Cordia New"/>
              </a:rPr>
              <a:t>แสดงผลลัพธ์</a:t>
            </a:r>
            <a:r>
              <a:rPr lang="en-US" sz="1600">
                <a:latin typeface="Cordia New"/>
                <a:ea typeface="+mn-lt"/>
                <a:cs typeface="Cordia New"/>
              </a:rPr>
              <a:t> A</a:t>
            </a:r>
            <a:endParaRPr lang="th-TH" sz="1600">
              <a:latin typeface="Cordia New"/>
              <a:ea typeface="Calibri" panose="020F0502020204030204"/>
              <a:cs typeface="Cordia New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FE6C65DC-467E-9D38-EC6A-3B9F0B9A41FE}"/>
              </a:ext>
            </a:extLst>
          </p:cNvPr>
          <p:cNvSpPr txBox="1"/>
          <p:nvPr/>
        </p:nvSpPr>
        <p:spPr>
          <a:xfrm>
            <a:off x="7370609" y="3940502"/>
            <a:ext cx="3709758" cy="1885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solidFill>
                  <a:srgbClr val="C00000"/>
                </a:solidFill>
                <a:latin typeface="Cordia New"/>
                <a:cs typeface="Cordia New"/>
              </a:rPr>
              <a:t>สิ่งที่ต้องระวังระหว่าง</a:t>
            </a:r>
            <a:r>
              <a:rPr lang="en-US" b="1">
                <a:solidFill>
                  <a:srgbClr val="C00000"/>
                </a:solidFill>
                <a:latin typeface="Cordia New"/>
                <a:cs typeface="Cordia New"/>
              </a:rPr>
              <a:t> Demo</a:t>
            </a:r>
            <a:endParaRPr lang="th-TH" b="1">
              <a:solidFill>
                <a:srgbClr val="C00000"/>
              </a:solidFill>
              <a:latin typeface="Cordia New"/>
              <a:ea typeface="Calibri"/>
              <a:cs typeface="Cordia New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th-TH" sz="1400">
                <a:solidFill>
                  <a:srgbClr val="000000"/>
                </a:solidFill>
                <a:latin typeface="Consolas"/>
                <a:ea typeface="+mn-lt"/>
                <a:cs typeface="Cordia New"/>
              </a:rPr>
              <a:t>ห</a:t>
            </a:r>
            <a:r>
              <a:rPr lang="th-TH" sz="1600">
                <a:solidFill>
                  <a:srgbClr val="000000"/>
                </a:solidFill>
                <a:latin typeface="Cordia New"/>
                <a:ea typeface="+mn-lt"/>
                <a:cs typeface="Cordia New"/>
              </a:rPr>
              <a:t>้ามใส่ </a:t>
            </a:r>
            <a:r>
              <a:rPr lang="th-TH" sz="1600">
                <a:solidFill>
                  <a:srgbClr val="000000"/>
                </a:solidFill>
                <a:latin typeface="Cordia New"/>
                <a:ea typeface="Calibri"/>
                <a:cs typeface="Cordia New"/>
              </a:rPr>
              <a:t>;</a:t>
            </a:r>
            <a:r>
              <a:rPr lang="th-TH" sz="1600">
                <a:solidFill>
                  <a:srgbClr val="000000"/>
                </a:solidFill>
                <a:latin typeface="Cordia New"/>
                <a:ea typeface="+mn-lt"/>
                <a:cs typeface="Cordia New"/>
              </a:rPr>
              <a:t> หลังค่าที่ต้องการ </a:t>
            </a:r>
            <a:r>
              <a:rPr lang="th-TH" sz="1600" err="1">
                <a:solidFill>
                  <a:srgbClr val="000000"/>
                </a:solidFill>
                <a:latin typeface="Cordia New"/>
                <a:ea typeface="+mn-lt"/>
                <a:cs typeface="Cordia New"/>
              </a:rPr>
              <a:t>Return</a:t>
            </a:r>
            <a:endParaRPr lang="th-TH" sz="1600">
              <a:solidFill>
                <a:srgbClr val="000000"/>
              </a:solidFill>
              <a:latin typeface="Cordia New"/>
              <a:ea typeface="+mn-lt"/>
              <a:cs typeface="Cordia New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th-TH" sz="1600">
                <a:solidFill>
                  <a:srgbClr val="000000"/>
                </a:solidFill>
                <a:latin typeface="Cordia New"/>
                <a:ea typeface="+mn-lt"/>
                <a:cs typeface="Cordia New"/>
              </a:rPr>
              <a:t>ตรวจสอบ </a:t>
            </a:r>
            <a:r>
              <a:rPr lang="th-TH" sz="1600">
                <a:solidFill>
                  <a:srgbClr val="000000"/>
                </a:solidFill>
                <a:latin typeface="Cordia New"/>
                <a:ea typeface="Calibri"/>
                <a:cs typeface="Cordia New"/>
              </a:rPr>
              <a:t>{ }</a:t>
            </a:r>
            <a:r>
              <a:rPr lang="th-TH" sz="1600">
                <a:solidFill>
                  <a:srgbClr val="000000"/>
                </a:solidFill>
                <a:latin typeface="Cordia New"/>
                <a:ea typeface="+mn-lt"/>
                <a:cs typeface="Cordia New"/>
              </a:rPr>
              <a:t> ของ </a:t>
            </a:r>
            <a:r>
              <a:rPr lang="th-TH" sz="1600" i="0" u="none" strike="noStrike" baseline="0">
                <a:solidFill>
                  <a:srgbClr val="000000"/>
                </a:solidFill>
                <a:latin typeface="Cordia New"/>
                <a:ea typeface="+mn-lt"/>
                <a:cs typeface="Cordia New"/>
              </a:rPr>
              <a:t>Block </a:t>
            </a:r>
            <a:r>
              <a:rPr lang="th-TH" sz="1600" i="0" u="none" strike="noStrike" baseline="0" err="1">
                <a:solidFill>
                  <a:srgbClr val="000000"/>
                </a:solidFill>
                <a:latin typeface="Cordia New"/>
                <a:ea typeface="+mn-lt"/>
                <a:cs typeface="Cordia New"/>
              </a:rPr>
              <a:t>Expression</a:t>
            </a:r>
            <a:r>
              <a:rPr lang="th-TH" sz="1600">
                <a:solidFill>
                  <a:srgbClr val="000000"/>
                </a:solidFill>
                <a:latin typeface="Cordia New"/>
                <a:ea typeface="+mn-lt"/>
                <a:cs typeface="Cordia New"/>
              </a:rPr>
              <a:t> ให้ครบ</a:t>
            </a:r>
            <a:br>
              <a:rPr lang="th-TH" sz="1300">
                <a:ea typeface="+mn-lt"/>
                <a:cs typeface="+mn-lt"/>
              </a:rPr>
            </a:br>
            <a:endParaRPr lang="th-TH" sz="1300">
              <a:solidFill>
                <a:srgbClr val="000000"/>
              </a:solidFill>
              <a:ea typeface="+mn-lt"/>
              <a:cs typeface="+mn-lt"/>
            </a:endParaRPr>
          </a:p>
          <a:p>
            <a:endParaRPr lang="th-TH" sz="1300">
              <a:latin typeface="Consolas"/>
            </a:endParaRPr>
          </a:p>
          <a:p>
            <a:pPr algn="ctr"/>
            <a:endParaRPr lang="th-TH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D6403-054A-F113-EF83-DC90A8211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7957CA-2863-45EB-1D8C-688DBF7927EF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3FB45F-96BD-4D39-1924-E1E0F822A363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MEMBER 2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9AE791-8544-93D4-3A40-3526B1DC4712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22222"/>
                </a:solidFill>
                <a:ea typeface="+mn-lt"/>
                <a:cs typeface="+mn-lt"/>
              </a:rPr>
              <a:t>Example 2  </a:t>
            </a:r>
            <a:r>
              <a:rPr lang="en-US" sz="3000" b="1" err="1">
                <a:solidFill>
                  <a:srgbClr val="222222"/>
                </a:solidFill>
                <a:ea typeface="+mn-lt"/>
                <a:cs typeface="+mn-lt"/>
              </a:rPr>
              <a:t>การคืนค่าด้วย</a:t>
            </a:r>
            <a:r>
              <a:rPr lang="en-US" sz="3000" b="1">
                <a:solidFill>
                  <a:srgbClr val="222222"/>
                </a:solidFill>
                <a:ea typeface="+mn-lt"/>
                <a:cs typeface="+mn-lt"/>
              </a:rPr>
              <a:t> match Expression และ return</a:t>
            </a:r>
            <a:endParaRPr lang="th-TH" b="1">
              <a:ea typeface="Calibri"/>
              <a:cs typeface="Cordia New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E072461-D65A-8A60-CE1C-67625B48CE3F}"/>
              </a:ext>
            </a:extLst>
          </p:cNvPr>
          <p:cNvSpPr/>
          <p:nvPr/>
        </p:nvSpPr>
        <p:spPr>
          <a:xfrm>
            <a:off x="457200" y="1711178"/>
            <a:ext cx="6492240" cy="3771314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E1A0AB-5145-850F-0222-1CAD4C74B4CB}"/>
              </a:ext>
            </a:extLst>
          </p:cNvPr>
          <p:cNvSpPr/>
          <p:nvPr/>
        </p:nvSpPr>
        <p:spPr>
          <a:xfrm>
            <a:off x="685800" y="1768309"/>
            <a:ext cx="603504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4999"/>
              </a:lnSpc>
            </a:pPr>
            <a:r>
              <a:rPr lang="en-US" sz="1000" err="1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fn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</a:t>
            </a:r>
            <a:r>
              <a:rPr lang="en-US" sz="1000" err="1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check_user_role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(level: u32) -&gt;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&amp;'</a:t>
            </a:r>
            <a:r>
              <a:rPr lang="en-US" sz="1000">
                <a:solidFill>
                  <a:srgbClr val="7EE787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static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str {
    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// Early Return: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ใช้คำสั่ง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return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เพื่อคืนค่าและออกจากฟังก์ชันทันที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
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if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level ==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0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{
    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return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"Guest"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;
    }
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    // match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ในฐานะ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Expression: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คืนค่า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String slice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ออกจากฟังก์ชันโดยไม่ต้องใช้คำสั่ง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return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
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match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level {
       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1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=&gt; 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"Member"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,
       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2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=&gt; 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"Moderator"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,
       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3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=&gt; 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"Admin"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,
        _ =&gt; 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"Unknown Role"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,
    }
}
</a:t>
            </a:r>
            <a:r>
              <a:rPr lang="en-US" sz="1000" err="1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fn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</a:t>
            </a:r>
            <a:r>
              <a:rPr lang="en-US" sz="1000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main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() {
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let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</a:t>
            </a:r>
            <a:r>
              <a:rPr lang="en-US" sz="1000" err="1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user_level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=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2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;
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let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role = </a:t>
            </a:r>
            <a:r>
              <a:rPr lang="en-US" sz="1000" err="1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check_user_role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(</a:t>
            </a:r>
            <a:r>
              <a:rPr lang="en-US" sz="1000" err="1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user_level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);
    </a:t>
            </a:r>
            <a:r>
              <a:rPr lang="en-US" sz="1000" err="1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println</a:t>
            </a:r>
            <a:r>
              <a:rPr lang="en-US" sz="1000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!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(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"User role is: {}"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, role);
}</a:t>
            </a:r>
            <a:endParaRPr lang="th-TH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92F329E-C1CC-A80F-0ADA-4F107646B377}"/>
              </a:ext>
            </a:extLst>
          </p:cNvPr>
          <p:cNvSpPr/>
          <p:nvPr/>
        </p:nvSpPr>
        <p:spPr>
          <a:xfrm>
            <a:off x="7223760" y="1712806"/>
            <a:ext cx="4740825" cy="3544994"/>
          </a:xfrm>
          <a:prstGeom prst="roundRect">
            <a:avLst>
              <a:gd name="adj" fmla="val 2051"/>
            </a:avLst>
          </a:prstGeom>
          <a:solidFill>
            <a:srgbClr val="F7F0F0"/>
          </a:solidFill>
          <a:ln>
            <a:solidFill>
              <a:srgbClr val="F7F0F0"/>
            </a:solidFill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D9BC6D2-317A-8F19-96BA-E7137A166265}"/>
              </a:ext>
            </a:extLst>
          </p:cNvPr>
          <p:cNvSpPr/>
          <p:nvPr/>
        </p:nvSpPr>
        <p:spPr>
          <a:xfrm>
            <a:off x="7452360" y="187452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  <a:latin typeface="Cordia New"/>
                <a:ea typeface="Cambria"/>
                <a:cs typeface="Cordia New"/>
              </a:rPr>
              <a:t>Demo Checklist</a:t>
            </a:r>
            <a:r>
              <a:rPr lang="th-TH" sz="1500" b="1">
                <a:solidFill>
                  <a:srgbClr val="C00000"/>
                </a:solidFill>
                <a:latin typeface="Cambria"/>
                <a:ea typeface="Cambria"/>
                <a:cs typeface="Cambria" pitchFamily="34" charset="-120"/>
              </a:rPr>
              <a:t> 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21C8505-B331-A3EA-5D39-53082262EDBF}"/>
              </a:ext>
            </a:extLst>
          </p:cNvPr>
          <p:cNvSpPr/>
          <p:nvPr/>
        </p:nvSpPr>
        <p:spPr>
          <a:xfrm>
            <a:off x="7452360" y="2248406"/>
            <a:ext cx="4264992" cy="17111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85750" indent="-285750">
              <a:buFont typeface="Arial"/>
              <a:buChar char="•"/>
            </a:pPr>
            <a:r>
              <a:rPr lang="en-US" sz="1600" b="1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คำสั่ง</a:t>
            </a:r>
            <a:r>
              <a:rPr lang="en-US" sz="1600" b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return: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คืนค่า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"Guest"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ออกทันทีเมื่อเจอกรณีขอบเขต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(Early Return)</a:t>
            </a:r>
            <a:endParaRPr lang="th-TH">
              <a:solidFill>
                <a:srgbClr val="000000"/>
              </a:solidFill>
              <a:latin typeface="Calibri" panose="020F0502020204030204"/>
              <a:ea typeface="+mn-lt"/>
              <a:cs typeface="Cordia New" panose="020B0304020202020204" pitchFamily="34" charset="-34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match Expression: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ประเมินค่าและส่ง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Value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จาก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Arm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ที่จับคู่ได้สำเร็จออกมาตรง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ๆ</a:t>
            </a:r>
          </a:p>
          <a:p>
            <a:pPr marL="285750" indent="-285750">
              <a:buFont typeface="Arial"/>
              <a:buChar char="•"/>
            </a:pPr>
            <a:r>
              <a:rPr lang="en-US" sz="1600" b="1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ละเว้น</a:t>
            </a:r>
            <a:r>
              <a:rPr lang="en-US" sz="1600" b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Semicolon (;):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ไม่ใส่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>
                <a:solidFill>
                  <a:srgbClr val="222222"/>
                </a:solidFill>
                <a:latin typeface="Cordia New"/>
                <a:ea typeface="Calibri"/>
                <a:cs typeface="Cordia New"/>
              </a:rPr>
              <a:t>;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ท้าย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match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เพื่อให้เป็น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Expression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สำหรับคืนค่าให้ฟังก์ชัน</a:t>
            </a:r>
            <a:endParaRPr lang="en-US" sz="1600" err="1">
              <a:solidFill>
                <a:srgbClr val="222222"/>
              </a:solidFill>
              <a:latin typeface="Cordia New"/>
              <a:ea typeface="Calibri"/>
              <a:cs typeface="Cordia New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7C75F2A-A51B-EBD2-228E-8EF4795B2F5C}"/>
              </a:ext>
            </a:extLst>
          </p:cNvPr>
          <p:cNvSpPr/>
          <p:nvPr/>
        </p:nvSpPr>
        <p:spPr>
          <a:xfrm>
            <a:off x="7453174" y="3852359"/>
            <a:ext cx="4059747" cy="143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br>
              <a:rPr lang="en-US" sz="1400" b="1"/>
            </a:br>
            <a:r>
              <a:rPr lang="en-US" b="1">
                <a:solidFill>
                  <a:srgbClr val="C00000"/>
                </a:solidFill>
                <a:latin typeface="Cordia New"/>
                <a:cs typeface="Cordia New"/>
              </a:rPr>
              <a:t>สิ่งที่ต้องระวังระหว่าง Demo</a:t>
            </a:r>
            <a:endParaRPr lang="th-TH" b="1">
              <a:solidFill>
                <a:srgbClr val="C00000"/>
              </a:solidFill>
              <a:latin typeface="Cordia New"/>
              <a:ea typeface="Calibri"/>
              <a:cs typeface="Cordia New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ระวังการใส่</a:t>
            </a:r>
            <a:r>
              <a:rPr lang="en-US" sz="1600" b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b="1">
                <a:solidFill>
                  <a:srgbClr val="222222"/>
                </a:solidFill>
                <a:latin typeface="Cordia New"/>
                <a:ea typeface="Calibri"/>
                <a:cs typeface="Cordia New"/>
              </a:rPr>
              <a:t>;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ท้ายโครงสร้าง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match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เพราะจะทำให้คืนค่าเป็น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>
                <a:solidFill>
                  <a:srgbClr val="222222"/>
                </a:solidFill>
                <a:latin typeface="Cordia New"/>
                <a:ea typeface="Calibri"/>
                <a:cs typeface="Cordia New"/>
              </a:rPr>
              <a:t>()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(Unit) แทน Value ที่ต้องการ</a:t>
            </a:r>
            <a:endParaRPr lang="en-US" sz="1600">
              <a:solidFill>
                <a:srgbClr val="222222"/>
              </a:solidFill>
              <a:latin typeface="Cordia New"/>
              <a:ea typeface="Calibri"/>
              <a:cs typeface="Cordia New"/>
            </a:endParaRPr>
          </a:p>
          <a:p>
            <a:pPr marL="0" indent="0">
              <a:buNone/>
            </a:pPr>
            <a:endParaRPr lang="en-US" sz="130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7CA809D-A1DF-755D-CA7A-06D332283385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EE08BE0-6D88-BCA7-781E-6EAF6F5BF961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974944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CC443-BFE4-389F-1AAF-84F7D6E7B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A70728-14E4-FBA6-6636-2F6DDE944EB9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849988-F1B2-C4F8-0806-9F77AA9CFC5C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MEMBER 2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5474503-0998-04AB-85AF-6CD72116FD00}"/>
              </a:ext>
            </a:extLst>
          </p:cNvPr>
          <p:cNvSpPr/>
          <p:nvPr/>
        </p:nvSpPr>
        <p:spPr>
          <a:xfrm>
            <a:off x="515815" y="960121"/>
            <a:ext cx="11264783" cy="1431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22222"/>
                </a:solidFill>
              </a:rPr>
              <a:t>Example 3</a:t>
            </a:r>
            <a:r>
              <a:rPr lang="en-US" sz="3000" b="1">
                <a:solidFill>
                  <a:srgbClr val="22222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000" b="1">
                <a:solidFill>
                  <a:srgbClr val="222222"/>
                </a:solidFill>
              </a:rPr>
              <a:t> </a:t>
            </a:r>
            <a:r>
              <a:rPr lang="en-US" sz="3000" b="1" err="1">
                <a:solidFill>
                  <a:srgbClr val="222222"/>
                </a:solidFill>
                <a:latin typeface="Calibri"/>
                <a:ea typeface="+mn-lt"/>
                <a:cs typeface="+mn-lt"/>
              </a:rPr>
              <a:t>การคืนค่าจาก</a:t>
            </a:r>
            <a:r>
              <a:rPr lang="en-US" sz="3000" b="1">
                <a:solidFill>
                  <a:srgbClr val="222222"/>
                </a:solidFill>
                <a:latin typeface="Calibri"/>
                <a:ea typeface="+mn-lt"/>
                <a:cs typeface="+mn-lt"/>
              </a:rPr>
              <a:t> Loop </a:t>
            </a:r>
            <a:r>
              <a:rPr lang="en-US" sz="3000" b="1" err="1">
                <a:solidFill>
                  <a:srgbClr val="222222"/>
                </a:solidFill>
                <a:latin typeface="Calibri"/>
                <a:ea typeface="+mn-lt"/>
                <a:cs typeface="+mn-lt"/>
              </a:rPr>
              <a:t>ด้วยคำสั่ง</a:t>
            </a:r>
            <a:r>
              <a:rPr lang="en-US" sz="3000" b="1">
                <a:solidFill>
                  <a:srgbClr val="222222"/>
                </a:solidFill>
                <a:latin typeface="Calibri"/>
                <a:ea typeface="+mn-lt"/>
                <a:cs typeface="+mn-lt"/>
              </a:rPr>
              <a:t> break</a:t>
            </a:r>
            <a:br>
              <a:rPr lang="en-US" sz="3000" b="1">
                <a:latin typeface="Calibri"/>
                <a:ea typeface="+mn-lt"/>
                <a:cs typeface="+mn-lt"/>
              </a:rPr>
            </a:br>
            <a:endParaRPr lang="en-US" sz="3000" b="1">
              <a:solidFill>
                <a:srgbClr val="222222"/>
              </a:solidFill>
              <a:ea typeface="+mn-lt"/>
              <a:cs typeface="+mn-lt"/>
            </a:endParaRPr>
          </a:p>
          <a:p>
            <a:endParaRPr lang="en-US" sz="3000" b="1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5BD6A5F-1AEB-7DE8-7473-B2D732632548}"/>
              </a:ext>
            </a:extLst>
          </p:cNvPr>
          <p:cNvSpPr/>
          <p:nvPr/>
        </p:nvSpPr>
        <p:spPr>
          <a:xfrm>
            <a:off x="457200" y="1711178"/>
            <a:ext cx="6492240" cy="3771314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1810ADB-133D-B038-50DD-7C897E09FE71}"/>
              </a:ext>
            </a:extLst>
          </p:cNvPr>
          <p:cNvSpPr/>
          <p:nvPr/>
        </p:nvSpPr>
        <p:spPr>
          <a:xfrm>
            <a:off x="685800" y="1768309"/>
            <a:ext cx="603504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4999"/>
              </a:lnSpc>
            </a:pPr>
            <a:r>
              <a:rPr lang="en-US" sz="1000" err="1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fn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</a:t>
            </a:r>
            <a:r>
              <a:rPr lang="en-US" sz="1000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main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() {
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let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mut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counter =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0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;
    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// loop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เป็น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Expression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ที่ส่งค่ากลับมาเข้าตัวแปร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result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ได้โดยตรง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
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let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result =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loop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{
        counter +=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1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;
    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if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counter ==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3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{
            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//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คืนค่า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counter * 10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ออกไปให้ตัวแปร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result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แล้วหยุด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loop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ทันที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
        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break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counter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*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10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;
        }
    };
    </a:t>
            </a:r>
            <a:r>
              <a:rPr lang="en-US" sz="1000" err="1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println</a:t>
            </a:r>
            <a:r>
              <a:rPr lang="en-US" sz="1000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!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(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"The result from loop execution is: {}"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, result);
}</a:t>
            </a:r>
            <a:endParaRPr lang="th-TH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A55D479-9B4D-9C5C-63A2-C98B0B70E0FB}"/>
              </a:ext>
            </a:extLst>
          </p:cNvPr>
          <p:cNvSpPr/>
          <p:nvPr/>
        </p:nvSpPr>
        <p:spPr>
          <a:xfrm>
            <a:off x="7223760" y="1712806"/>
            <a:ext cx="4740825" cy="3544994"/>
          </a:xfrm>
          <a:prstGeom prst="roundRect">
            <a:avLst>
              <a:gd name="adj" fmla="val 2051"/>
            </a:avLst>
          </a:prstGeom>
          <a:solidFill>
            <a:srgbClr val="F7F0F0"/>
          </a:solidFill>
          <a:ln>
            <a:solidFill>
              <a:srgbClr val="F7F0F0"/>
            </a:solidFill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FAD7C87-A9F3-25DD-0FEB-5B88A3BB04C1}"/>
              </a:ext>
            </a:extLst>
          </p:cNvPr>
          <p:cNvSpPr/>
          <p:nvPr/>
        </p:nvSpPr>
        <p:spPr>
          <a:xfrm>
            <a:off x="7452360" y="187452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  <a:latin typeface="Cordia New"/>
                <a:ea typeface="Cambria"/>
                <a:cs typeface="Cordia New"/>
              </a:rPr>
              <a:t>Demo Checklist</a:t>
            </a:r>
            <a:r>
              <a:rPr lang="th-TH" sz="1500" b="1">
                <a:solidFill>
                  <a:srgbClr val="C00000"/>
                </a:solidFill>
                <a:latin typeface="Cambria"/>
                <a:ea typeface="Cambria"/>
                <a:cs typeface="Cambria" pitchFamily="34" charset="-120"/>
              </a:rPr>
              <a:t> 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82DF744-9399-6DAB-E727-108C8913E027}"/>
              </a:ext>
            </a:extLst>
          </p:cNvPr>
          <p:cNvSpPr/>
          <p:nvPr/>
        </p:nvSpPr>
        <p:spPr>
          <a:xfrm>
            <a:off x="7452360" y="2248406"/>
            <a:ext cx="4264992" cy="17111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loop </a:t>
            </a:r>
            <a:r>
              <a:rPr lang="en-US" sz="1600" b="1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เป็น</a:t>
            </a:r>
            <a:r>
              <a:rPr lang="en-US" sz="1600" b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Expression: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ถือเป็น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Expression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คืนค่าได้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ไม่ใช่แค่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Statement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เหมือนภาษา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C/Java</a:t>
            </a:r>
            <a:endParaRPr lang="th-TH">
              <a:solidFill>
                <a:srgbClr val="000000"/>
              </a:solidFill>
              <a:latin typeface="Calibri" panose="020F0502020204030204"/>
              <a:ea typeface="+mn-lt"/>
              <a:cs typeface="Cordia New" panose="020B0304020202020204" pitchFamily="34" charset="-34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การใช้</a:t>
            </a:r>
            <a:r>
              <a:rPr lang="en-US" sz="1600" b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break :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คืนค่า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counter * 10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ให้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result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พร้อมหยุด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loop </a:t>
            </a:r>
            <a:b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</a:b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ทันที</a:t>
            </a:r>
            <a:endParaRPr lang="en-US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เขียนโค้ดกระชับขึ้น</a:t>
            </a:r>
            <a:r>
              <a:rPr lang="en-US" sz="1600" b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: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result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ได้รับค่าทันที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ไม่ต้องสร้างตัวแปร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mut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เปล่าๆ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ไว้นอก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loop</a:t>
            </a:r>
            <a:endParaRPr lang="en-US" sz="1600">
              <a:solidFill>
                <a:srgbClr val="222222"/>
              </a:solidFill>
              <a:latin typeface="Cordia New"/>
              <a:ea typeface="Calibri"/>
              <a:cs typeface="Cordia New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0760423-D083-83C8-F667-5EFA38240D22}"/>
              </a:ext>
            </a:extLst>
          </p:cNvPr>
          <p:cNvSpPr/>
          <p:nvPr/>
        </p:nvSpPr>
        <p:spPr>
          <a:xfrm>
            <a:off x="7453174" y="3852359"/>
            <a:ext cx="4059747" cy="143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br>
              <a:rPr lang="en-US" sz="1400" b="1"/>
            </a:br>
            <a:r>
              <a:rPr lang="en-US" b="1">
                <a:solidFill>
                  <a:srgbClr val="C00000"/>
                </a:solidFill>
                <a:latin typeface="Cordia New"/>
                <a:cs typeface="Cordia New"/>
              </a:rPr>
              <a:t>สิ่งที่ต้องระวังระหว่าง Demo</a:t>
            </a:r>
            <a:endParaRPr lang="th-TH" b="1">
              <a:solidFill>
                <a:srgbClr val="C00000"/>
              </a:solidFill>
              <a:latin typeface="Cordia New"/>
              <a:ea typeface="Calibri"/>
              <a:cs typeface="Cordia New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err="1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ระวังการใส่</a:t>
            </a:r>
            <a:r>
              <a:rPr lang="en-US" sz="1600" b="1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 </a:t>
            </a:r>
            <a:r>
              <a:rPr lang="en-US" sz="1600" b="1">
                <a:solidFill>
                  <a:srgbClr val="444444"/>
                </a:solidFill>
                <a:latin typeface="Cordia New"/>
                <a:ea typeface="Calibri"/>
                <a:cs typeface="Cordia New"/>
              </a:rPr>
              <a:t>break;</a:t>
            </a:r>
            <a:r>
              <a:rPr lang="en-US" sz="1600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เฉยๆ</a:t>
            </a:r>
            <a:r>
              <a:rPr lang="en-US" sz="1600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โดย</a:t>
            </a:r>
            <a:r>
              <a:rPr lang="en-US" sz="1600" err="1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Calibri"/>
                <a:cs typeface="Cordia New"/>
              </a:rPr>
              <a:t>ไม่</a:t>
            </a:r>
            <a:r>
              <a:rPr lang="en-US" sz="1600" err="1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มีค่าตามหลัง</a:t>
            </a:r>
            <a:r>
              <a:rPr lang="en-US" sz="1600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จะได้ค่า</a:t>
            </a:r>
            <a:r>
              <a:rPr lang="en-US" sz="1600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 </a:t>
            </a:r>
            <a:r>
              <a:rPr lang="en-US" sz="1600">
                <a:solidFill>
                  <a:srgbClr val="444444"/>
                </a:solidFill>
                <a:latin typeface="Cordia New"/>
                <a:ea typeface="Calibri"/>
                <a:cs typeface="Cordia New"/>
              </a:rPr>
              <a:t>()</a:t>
            </a:r>
            <a:r>
              <a:rPr lang="en-US" sz="1600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แทน</a:t>
            </a:r>
            <a:endParaRPr lang="en-US" sz="1600">
              <a:solidFill>
                <a:srgbClr val="444444"/>
              </a:solidFill>
              <a:highlight>
                <a:srgbClr val="F6EEE8"/>
              </a:highlight>
              <a:latin typeface="Cordia New"/>
              <a:ea typeface="Calibri"/>
              <a:cs typeface="Cordia New"/>
            </a:endParaRPr>
          </a:p>
          <a:p>
            <a:pPr marL="0" indent="0">
              <a:buNone/>
            </a:pPr>
            <a:endParaRPr lang="en-US" sz="130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EFBA1FC-8D6B-DD44-57FD-B5C9FB054253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FB98DFB-59DD-D062-2E92-69315010B523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058358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Rust vs Python</a:t>
            </a:r>
            <a:endParaRPr lang="en-US" sz="3000">
              <a:latin typeface="Cambria"/>
              <a:ea typeface="Cambria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792185"/>
              </p:ext>
            </p:extLst>
          </p:nvPr>
        </p:nvGraphicFramePr>
        <p:xfrm>
          <a:off x="457200" y="1691640"/>
          <a:ext cx="11274552" cy="30175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7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7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Rust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Python</a:t>
                      </a:r>
                      <a:endParaRPr lang="th-TH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Syntax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ใช้</a:t>
                      </a:r>
                      <a:r>
                        <a:rPr lang="en-US" sz="13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{} </a:t>
                      </a:r>
                      <a:r>
                        <a:rPr lang="en-US" sz="1300" b="0" i="0" u="none" strike="noStrike" noProof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สำหรับ</a:t>
                      </a:r>
                      <a:r>
                        <a:rPr lang="en-US" sz="13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Block </a:t>
                      </a:r>
                      <a:r>
                        <a:rPr lang="en-US" sz="1300" b="0" i="0" u="none" strike="noStrike" noProof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และ</a:t>
                      </a:r>
                      <a:r>
                        <a:rPr lang="en-US" sz="13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; </a:t>
                      </a:r>
                      <a:r>
                        <a:rPr lang="en-US" sz="1300" b="0" i="0" u="none" strike="noStrike" noProof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ใช้แยก</a:t>
                      </a:r>
                      <a:r>
                        <a:rPr lang="en-US" sz="13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Statement </a:t>
                      </a:r>
                      <a:endParaRPr lang="th-TH" sz="1300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ใช้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indentation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เพื่อกำหนด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Block</a:t>
                      </a:r>
                      <a:endParaRPr lang="th-TH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Semantics / Behavior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if, loop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และ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Block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สามารถเป็น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Expression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และคืนค่าได้</a:t>
                      </a:r>
                      <a:endParaRPr lang="th-TH" err="1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if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และ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loop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ใช้ในลักษณะ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Statement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เป็นหลัก</a:t>
                      </a:r>
                      <a:endParaRPr lang="th-TH" err="1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Type System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Static Type System</a:t>
                      </a:r>
                      <a:endParaRPr lang="th-TH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Dynamic Type System</a:t>
                      </a:r>
                      <a:endParaRPr lang="th-TH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Memory Management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ใช้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Ownership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และ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Borrowing</a:t>
                      </a:r>
                      <a:endParaRPr lang="th-TH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จัดการ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Memory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อัตโนมัติ</a:t>
                      </a:r>
                      <a:endParaRPr lang="th-TH" err="1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Safety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Compiler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ตรวจสอบ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Type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และกฎ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Ownership/Borrowing</a:t>
                      </a:r>
                      <a:endParaRPr lang="th-TH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ตรวจสอบ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Type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หลัก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ๆ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ขณะ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Runtime</a:t>
                      </a:r>
                      <a:endParaRPr lang="th-TH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B97C9-16C9-550E-1F06-FB1F2E723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FBB798-F0E9-3ADF-D0B3-02F85D008E5D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21579B-C0F6-2AAF-9627-2E32BA0EC718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1597546-9B23-B5DD-369C-A7CC89687373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Rust vs Python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1B00BA0-62B9-82B4-EE7A-625952A3BD80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5AC9547-7848-53CA-F69D-864B8F2C31C8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A27F6B0C-63EE-B14C-246C-DAB6CF261AF9}"/>
              </a:ext>
            </a:extLst>
          </p:cNvPr>
          <p:cNvSpPr txBox="1"/>
          <p:nvPr/>
        </p:nvSpPr>
        <p:spPr>
          <a:xfrm>
            <a:off x="1012520" y="1591849"/>
            <a:ext cx="911268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Rust </a:t>
            </a:r>
            <a:r>
              <a:rPr lang="en-US" sz="1600" err="1"/>
              <a:t>มีแนวทาง</a:t>
            </a:r>
            <a:r>
              <a:rPr lang="en-US" sz="1600"/>
              <a:t> Expression-oriented </a:t>
            </a:r>
            <a:r>
              <a:rPr lang="en-US" sz="1600" err="1"/>
              <a:t>ที่ทำให้โครงสร้างควบคุมสามารถนำมาใช้สร้างค่าได้โดยตรง</a:t>
            </a:r>
            <a:endParaRPr lang="en-US" sz="1600">
              <a:ea typeface="Calibri"/>
              <a:cs typeface="Calibri"/>
            </a:endParaRPr>
          </a:p>
          <a:p>
            <a:pPr algn="ctr"/>
            <a:endParaRPr lang="th-TH">
              <a:ea typeface="Calibri"/>
              <a:cs typeface="Cordia New" panose="020B0304020202020204" pitchFamily="34" charset="-34"/>
            </a:endParaRP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059227D7-F88E-BA36-BE66-FF649D884E92}"/>
              </a:ext>
            </a:extLst>
          </p:cNvPr>
          <p:cNvSpPr txBox="1"/>
          <p:nvPr/>
        </p:nvSpPr>
        <p:spPr>
          <a:xfrm>
            <a:off x="459288" y="1915438"/>
            <a:ext cx="643002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/>
              <a:t>ตัวอย่างนี้แสดงความแตกต่างด้านการออกแบบภาษาอย่างชัดเจน</a:t>
            </a:r>
            <a:r>
              <a:rPr lang="en-US" sz="1600"/>
              <a:t>:</a:t>
            </a:r>
            <a:endParaRPr lang="en-US" sz="1600">
              <a:ea typeface="Calibri"/>
              <a:cs typeface="Calibri"/>
            </a:endParaRPr>
          </a:p>
          <a:p>
            <a:pPr algn="ctr"/>
            <a:endParaRPr lang="th-TH" sz="1600">
              <a:ea typeface="Calibri"/>
              <a:cs typeface="Cordia New"/>
            </a:endParaRPr>
          </a:p>
        </p:txBody>
      </p:sp>
      <p:pic>
        <p:nvPicPr>
          <p:cNvPr id="10" name="รูปภาพ 9">
            <a:extLst>
              <a:ext uri="{FF2B5EF4-FFF2-40B4-BE49-F238E27FC236}">
                <a16:creationId xmlns:a16="http://schemas.microsoft.com/office/drawing/2014/main" id="{4584BD48-E230-9EEA-4305-371165F20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676" y="2952686"/>
            <a:ext cx="3590925" cy="1954712"/>
          </a:xfrm>
          <a:prstGeom prst="rect">
            <a:avLst/>
          </a:prstGeom>
        </p:spPr>
      </p:pic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8587EE38-755C-D910-72FB-64B530720A71}"/>
              </a:ext>
            </a:extLst>
          </p:cNvPr>
          <p:cNvSpPr txBox="1"/>
          <p:nvPr/>
        </p:nvSpPr>
        <p:spPr>
          <a:xfrm>
            <a:off x="657617" y="5161767"/>
            <a:ext cx="432148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/>
              <a:t>if </a:t>
            </a:r>
            <a:r>
              <a:rPr lang="en-US" sz="1600" err="1"/>
              <a:t>สร้างค่าออกมา</a:t>
            </a:r>
            <a:r>
              <a:rPr lang="en-US" sz="1600"/>
              <a:t> </a:t>
            </a:r>
            <a:r>
              <a:rPr lang="en-US" sz="1600" err="1"/>
              <a:t>แล้วนำค่านั้นไปกำหนดให้</a:t>
            </a:r>
            <a:r>
              <a:rPr lang="en-US" sz="1600"/>
              <a:t> grade</a:t>
            </a:r>
            <a:endParaRPr lang="en-US" sz="1600">
              <a:ea typeface="Calibri"/>
              <a:cs typeface="Calibri"/>
            </a:endParaRPr>
          </a:p>
          <a:p>
            <a:pPr algn="ctr"/>
            <a:endParaRPr lang="th-TH"/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07EA6A5A-CF87-CA9D-75BD-C4C59E6AD7A2}"/>
              </a:ext>
            </a:extLst>
          </p:cNvPr>
          <p:cNvSpPr txBox="1"/>
          <p:nvPr/>
        </p:nvSpPr>
        <p:spPr>
          <a:xfrm>
            <a:off x="8110602" y="2510423"/>
            <a:ext cx="98120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/>
              <a:t>Python</a:t>
            </a:r>
            <a:r>
              <a:rPr lang="en-US" sz="1600"/>
              <a:t>: 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14" name="รูปภาพ 13">
            <a:extLst>
              <a:ext uri="{FF2B5EF4-FFF2-40B4-BE49-F238E27FC236}">
                <a16:creationId xmlns:a16="http://schemas.microsoft.com/office/drawing/2014/main" id="{38DC1687-80E4-16BA-6F1D-9B590DF36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5623" y="2899253"/>
            <a:ext cx="3041606" cy="2072013"/>
          </a:xfrm>
          <a:prstGeom prst="rect">
            <a:avLst/>
          </a:prstGeom>
        </p:spPr>
      </p:pic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F732139B-79EE-6019-7F11-6F86F8F3B974}"/>
              </a:ext>
            </a:extLst>
          </p:cNvPr>
          <p:cNvSpPr txBox="1"/>
          <p:nvPr/>
        </p:nvSpPr>
        <p:spPr>
          <a:xfrm>
            <a:off x="2327752" y="2510423"/>
            <a:ext cx="98120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/>
              <a:t>Rust: </a:t>
            </a:r>
            <a:endParaRPr lang="en-US" sz="1600" b="1">
              <a:ea typeface="Calibri"/>
              <a:cs typeface="Calibri"/>
            </a:endParaRP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FA7E3B33-2D47-9E28-3CD3-CDE86BBD3AD1}"/>
              </a:ext>
            </a:extLst>
          </p:cNvPr>
          <p:cNvSpPr txBox="1"/>
          <p:nvPr/>
        </p:nvSpPr>
        <p:spPr>
          <a:xfrm>
            <a:off x="6346521" y="5161767"/>
            <a:ext cx="4519808" cy="7817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ea typeface="+mn-lt"/>
                <a:cs typeface="+mn-lt"/>
              </a:rPr>
              <a:t>if </a:t>
            </a:r>
            <a:r>
              <a:rPr lang="en-US" sz="1600" err="1">
                <a:ea typeface="+mn-lt"/>
                <a:cs typeface="+mn-lt"/>
              </a:rPr>
              <a:t>ทำหน้าที่ควบคุมการทำงาน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และการกำหนดค่าให้</a:t>
            </a:r>
            <a:r>
              <a:rPr lang="en-US" sz="1600">
                <a:ea typeface="+mn-lt"/>
                <a:cs typeface="+mn-lt"/>
              </a:rPr>
              <a:t> grade </a:t>
            </a:r>
            <a:r>
              <a:rPr lang="en-US" sz="1600" err="1">
                <a:ea typeface="+mn-lt"/>
                <a:cs typeface="+mn-lt"/>
              </a:rPr>
              <a:t>เกิดขึ้นภายในแต่ละ</a:t>
            </a:r>
            <a:r>
              <a:rPr lang="en-US" sz="1600">
                <a:ea typeface="+mn-lt"/>
                <a:cs typeface="+mn-lt"/>
              </a:rPr>
              <a:t> branch</a:t>
            </a: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30761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68E6BB-2EB0-4ECC-79AE-3C88BBDA3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547E78-CF6B-FA2F-F093-D3665E337FD6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520DE5-4579-9E4B-9D88-F7B5B584EA72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C173BD-8687-F3A6-4588-FDE1E673B0F5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Rust vs Java</a:t>
            </a:r>
            <a:endParaRPr lang="en-US" sz="3000">
              <a:latin typeface="Cambria"/>
              <a:ea typeface="Cambria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D5FCBA67-49E8-22BE-BFCD-60BA96EC0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313915"/>
              </p:ext>
            </p:extLst>
          </p:nvPr>
        </p:nvGraphicFramePr>
        <p:xfrm>
          <a:off x="457200" y="1691640"/>
          <a:ext cx="11274552" cy="364540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7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7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Rust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Java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Syntax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chemeClr val="tx1"/>
                          </a:solidFill>
                        </a:rPr>
                        <a:t>ใช้ {} สำหรับ Block และ ; สำหรับสิ้นสุด Statement โดย if, match และ Block สามารถเป็น Expression ได้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ใช้ {} สำหรับ Block และ ; สำหรับสิ้นสุด Statement โดย if แบบปกติเป็น Statement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Semantics / Behavior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Expression สามารถประเมินผลและคืนค่าได้ เช่น if สามารถคืนค่าให้ตัวแปรโดยตรง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if แบบปกติใช้ควบคุมการทำงาน และไม่คืนค่าโดยตรง แต่สามารถใช้ Ternary Operator ?: เพื่อสร้างค่าได้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Type System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Static Type System มี Type Checking และ Type Inference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Static Type System มี Type Checking และ Type Inference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Memory Management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ใช้ Ownership, Borrowing และ Lifetime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ใช้ Garbage Collector (GC) จัดการ Memory อัตโนมัติ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ิ</a:t>
                      </a:r>
                      <a:endParaRPr lang="th-TH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Safety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Compiler ตรวจสอบ Type, Ownership และ Borrowing ช่วยป้องกัน Memory Error หลายประเภทตั้งแต่ Compile Time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มี Memory Safety จาก Garbage Collector และไม่มี Pointer ให้จัดการโดยตรง แต่ข้อผิดพลาดบางอย่างเกิดขึ้นได้ตอน Runtime</a:t>
                      </a:r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>
            <a:extLst>
              <a:ext uri="{FF2B5EF4-FFF2-40B4-BE49-F238E27FC236}">
                <a16:creationId xmlns:a16="http://schemas.microsoft.com/office/drawing/2014/main" id="{6A5A644A-3100-E022-B1F0-484E9A7CAD8E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75AD170-90BF-1E8C-8165-E4C3B4EE8AF8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599235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58B76-43EB-F8FA-33D7-5EF06817F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6738C5-62E7-75F1-17A0-40FFA9E757D8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27F0DB-BCED-02F7-3629-0E2D728633DE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7D7236-F196-183B-77D5-05E975D2F000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Rust vs Java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4A7756A-E659-D625-AF6C-84A58601BB78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C09D5E6-9D86-1485-DE2D-B18AF4C1DC2C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pic>
        <p:nvPicPr>
          <p:cNvPr id="10" name="รูปภาพ 9">
            <a:extLst>
              <a:ext uri="{FF2B5EF4-FFF2-40B4-BE49-F238E27FC236}">
                <a16:creationId xmlns:a16="http://schemas.microsoft.com/office/drawing/2014/main" id="{B56D7B15-7523-EEEC-18E8-1A8DDB4FF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617" y="2414804"/>
            <a:ext cx="3590925" cy="1954712"/>
          </a:xfrm>
          <a:prstGeom prst="rect">
            <a:avLst/>
          </a:prstGeom>
        </p:spPr>
      </p:pic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1C243583-BE27-F9CB-5A1D-7DC73B402EBE}"/>
              </a:ext>
            </a:extLst>
          </p:cNvPr>
          <p:cNvSpPr txBox="1"/>
          <p:nvPr/>
        </p:nvSpPr>
        <p:spPr>
          <a:xfrm>
            <a:off x="926558" y="4623885"/>
            <a:ext cx="4321480" cy="7817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ea typeface="+mn-lt"/>
                <a:cs typeface="+mn-lt"/>
              </a:rPr>
              <a:t>จุดสำคัญคือ if สามารถเป็น Expression และคืนค่า "B" ให้กับตัวแปร grade ได้</a:t>
            </a:r>
            <a:endParaRPr lang="en-US"/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F860958D-8071-6A48-508D-432D8C1BD7FF}"/>
              </a:ext>
            </a:extLst>
          </p:cNvPr>
          <p:cNvSpPr txBox="1"/>
          <p:nvPr/>
        </p:nvSpPr>
        <p:spPr>
          <a:xfrm>
            <a:off x="8379543" y="1972541"/>
            <a:ext cx="98120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/>
              <a:t>Java</a:t>
            </a:r>
            <a:r>
              <a:rPr lang="en-US" sz="1600"/>
              <a:t>: 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1D63E0DB-453A-7000-9EB0-2646DBFEC0E4}"/>
              </a:ext>
            </a:extLst>
          </p:cNvPr>
          <p:cNvSpPr txBox="1"/>
          <p:nvPr/>
        </p:nvSpPr>
        <p:spPr>
          <a:xfrm>
            <a:off x="2596693" y="1972541"/>
            <a:ext cx="98120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/>
              <a:t>Rust: </a:t>
            </a:r>
            <a:endParaRPr lang="en-US" sz="1600" b="1">
              <a:ea typeface="Calibri"/>
              <a:cs typeface="Calibri"/>
            </a:endParaRP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AF79C36F-5E40-2578-B985-8E5EDBE44D4F}"/>
              </a:ext>
            </a:extLst>
          </p:cNvPr>
          <p:cNvSpPr txBox="1"/>
          <p:nvPr/>
        </p:nvSpPr>
        <p:spPr>
          <a:xfrm>
            <a:off x="6615462" y="4623885"/>
            <a:ext cx="4519808" cy="7817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ใน Java if แบบปกติเป็น Statement จึงต้องกำหนดค่าให้ grade ภายในแต่ละ Branch</a:t>
            </a: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E16890-C7CD-6699-39AF-BF9CAC2BC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357" y="2330824"/>
            <a:ext cx="3448609" cy="211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36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25892-4C9B-CED1-C3DC-BF9AE0A9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9386A04-21D3-B9B5-92BB-1DD0793F9426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5E1456-0A33-8280-1601-6836155E2466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4DBC66-4339-FCE2-46DA-A5FAB7A2BA05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Rust vs C</a:t>
            </a:r>
            <a:endParaRPr lang="en-US" sz="3000">
              <a:latin typeface="Cambria"/>
              <a:ea typeface="Cambria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2497A888-A36C-8B05-C207-05CE463C9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615561"/>
              </p:ext>
            </p:extLst>
          </p:nvPr>
        </p:nvGraphicFramePr>
        <p:xfrm>
          <a:off x="457200" y="1691640"/>
          <a:ext cx="11274552" cy="364540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7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7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Rust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Java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Syntax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chemeClr val="tx1"/>
                          </a:solidFill>
                        </a:rPr>
                        <a:t>ใช้ {} สำหรับ Block และ ; สำหรับสิ้นสุด Statement โดย if, match และ Block สามารถเป็น Expression ได้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ใช้ {} สำหรับ Block และ ; สำหรับสิ้นสุด Statement โดย if และ switch เป็น Statement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Semantics / Behavior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Expression สามารถประเมินผลและคืนค่าได้ เช่น if สามารถคืนค่าให้ตัวแปรโดยตรง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if ใช้ควบคุมลำดับการทำงาน และไม่สามารถคืนค่าโดยตรง ต้องกำหนดค่าภายในแต่ละ Branch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Type System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Static Type System มี Type Checking และ Type Inference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Static Type System แต่มี Implicit Conversion และการแปลง Type ที่ยืดหยุ่นกว่า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Memory Management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ใช้ Ownership, Borrowing และ Lifetime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Programmer จัดการ Memory เอง เช่น malloc() และ free()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Safety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Compiler ตรวจสอบ Type, Ownership และ Borrowing ช่วยป้องกัน Memory Error หลายประเภทตั้งแต่ Compile Time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Programmer ต้องรับผิดชอบ Memory Safety เอง จึงมีโอกาสเกิด Memory Leak, Dangling Pointer หรือ Use-after-free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>
            <a:extLst>
              <a:ext uri="{FF2B5EF4-FFF2-40B4-BE49-F238E27FC236}">
                <a16:creationId xmlns:a16="http://schemas.microsoft.com/office/drawing/2014/main" id="{6A83AAD8-74E6-62E2-CBDA-E99D3BFEA832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CCD5F35-9E56-ED3C-3C0C-0AACF5F11495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81379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FED62-A776-0631-6CC1-A11FA7C47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BF8654-5754-0DB0-DA58-B2D9519383EB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975C82-FE28-5976-6501-70CA8A13D17B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2417DE9-07D9-AACA-2791-22FF29D4682F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Rust vs C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E159222-A37A-CD43-13A1-D51D087D19F1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7EEF153-FABA-45BA-8BB6-B602CB156629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pic>
        <p:nvPicPr>
          <p:cNvPr id="10" name="รูปภาพ 9">
            <a:extLst>
              <a:ext uri="{FF2B5EF4-FFF2-40B4-BE49-F238E27FC236}">
                <a16:creationId xmlns:a16="http://schemas.microsoft.com/office/drawing/2014/main" id="{934DE32F-2A60-5757-1122-35685E302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676" y="2145862"/>
            <a:ext cx="3590925" cy="1954712"/>
          </a:xfrm>
          <a:prstGeom prst="rect">
            <a:avLst/>
          </a:prstGeom>
        </p:spPr>
      </p:pic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E6D088D9-7A2E-B2DF-E94D-77CDE0F664EB}"/>
              </a:ext>
            </a:extLst>
          </p:cNvPr>
          <p:cNvSpPr txBox="1"/>
          <p:nvPr/>
        </p:nvSpPr>
        <p:spPr>
          <a:xfrm>
            <a:off x="657617" y="4780767"/>
            <a:ext cx="4321480" cy="7817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ea typeface="+mn-lt"/>
                <a:cs typeface="+mn-lt"/>
              </a:rPr>
              <a:t>จุดสำคัญคือ if สามารถเป็น Expression และคืนค่า "B" ให้กับตัวแปร grade ได้</a:t>
            </a:r>
            <a:endParaRPr lang="en-US"/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8749FB1E-1033-6474-9D18-D87CCB078712}"/>
              </a:ext>
            </a:extLst>
          </p:cNvPr>
          <p:cNvSpPr txBox="1"/>
          <p:nvPr/>
        </p:nvSpPr>
        <p:spPr>
          <a:xfrm>
            <a:off x="8121808" y="1714805"/>
            <a:ext cx="98120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/>
              <a:t>C</a:t>
            </a:r>
            <a:r>
              <a:rPr lang="en-US" sz="1600"/>
              <a:t>: 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3255C27E-8095-A8DA-A096-5FC9876F150D}"/>
              </a:ext>
            </a:extLst>
          </p:cNvPr>
          <p:cNvSpPr txBox="1"/>
          <p:nvPr/>
        </p:nvSpPr>
        <p:spPr>
          <a:xfrm>
            <a:off x="2327752" y="1714805"/>
            <a:ext cx="98120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/>
              <a:t>Rust: </a:t>
            </a:r>
            <a:endParaRPr lang="en-US" sz="1600" b="1">
              <a:ea typeface="Calibri"/>
              <a:cs typeface="Calibri"/>
            </a:endParaRP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8314E595-5E4C-95F2-B177-4AF2E1C8B8B3}"/>
              </a:ext>
            </a:extLst>
          </p:cNvPr>
          <p:cNvSpPr txBox="1"/>
          <p:nvPr/>
        </p:nvSpPr>
        <p:spPr>
          <a:xfrm>
            <a:off x="6346521" y="4780767"/>
            <a:ext cx="4519808" cy="7817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ea typeface="+mn-lt"/>
                <a:cs typeface="+mn-lt"/>
              </a:rPr>
              <a:t>if </a:t>
            </a:r>
            <a:r>
              <a:rPr lang="en-US" sz="1600" err="1">
                <a:ea typeface="+mn-lt"/>
                <a:cs typeface="+mn-lt"/>
              </a:rPr>
              <a:t>ทำหน้าที่ควบคุมการทำงาน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และการกำหนดค่าให้</a:t>
            </a:r>
            <a:r>
              <a:rPr lang="en-US" sz="1600">
                <a:ea typeface="+mn-lt"/>
                <a:cs typeface="+mn-lt"/>
              </a:rPr>
              <a:t> grade </a:t>
            </a:r>
            <a:r>
              <a:rPr lang="en-US" sz="1600" err="1">
                <a:ea typeface="+mn-lt"/>
                <a:cs typeface="+mn-lt"/>
              </a:rPr>
              <a:t>เกิดขึ้นภายในแต่ละ</a:t>
            </a:r>
            <a:r>
              <a:rPr lang="en-US" sz="1600">
                <a:ea typeface="+mn-lt"/>
                <a:cs typeface="+mn-lt"/>
              </a:rPr>
              <a:t> branch</a:t>
            </a:r>
            <a:endParaRPr lang="th-T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851F0F-0341-9A6B-3972-91580E666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91" y="2145926"/>
            <a:ext cx="3315260" cy="237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2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ใน Rust, Expression คือโครงสร้างที่สามารถประเมินผลแล้วได้ค่า (Value) ส่วน Statement คือคำสั่งที่ใช้ดำเนินการบางอย่าง โดย Rust ใช้ { } เพื่อกำหนด Block และใช้ ; เพื่อจบ Statement ในหลายกรณี</a:t>
            </a:r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91584" y="169164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9" name="Text 7"/>
          <p:cNvSpPr/>
          <p:nvPr/>
        </p:nvSpPr>
        <p:spPr>
          <a:xfrm>
            <a:off x="4474464" y="18288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4474464" y="224028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th-TH" sz="1400" b="1">
              <a:latin typeface="Calibri"/>
              <a:ea typeface="Calibri"/>
              <a:cs typeface="Cordia New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25968" y="169164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8308848" y="18288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System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4904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/ Resource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4291584" y="361188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4474464" y="374904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8125968" y="361188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21" name="Text 19"/>
          <p:cNvSpPr/>
          <p:nvPr/>
        </p:nvSpPr>
        <p:spPr>
          <a:xfrm>
            <a:off x="8308848" y="374904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Rust?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862BD0F2-B48A-4789-EE42-EE62FF437006}"/>
              </a:ext>
            </a:extLst>
          </p:cNvPr>
          <p:cNvSpPr/>
          <p:nvPr/>
        </p:nvSpPr>
        <p:spPr>
          <a:xfrm>
            <a:off x="4470955" y="2198525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200">
                <a:solidFill>
                  <a:srgbClr val="000000"/>
                </a:solidFill>
                <a:ea typeface="+mn-lt"/>
                <a:cs typeface="+mn-lt"/>
              </a:rPr>
              <a:t>Expression มีหน้าที่ประเมินผลและสร้าง Value Statement มีหน้าที่ดำเนินการหรือเปลี่ยนแปลงสถานะของโปรแกรม</a:t>
            </a:r>
            <a:endParaRPr lang="en-US"/>
          </a:p>
          <a:p>
            <a:endParaRPr lang="en-US" sz="1200">
              <a:solidFill>
                <a:srgbClr val="222222"/>
              </a:solidFill>
              <a:ea typeface="+mn-lt"/>
              <a:cs typeface="+mn-lt"/>
            </a:endParaRP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ADEFBB49-D820-AD65-8821-1C24D1DE76D8}"/>
              </a:ext>
            </a:extLst>
          </p:cNvPr>
          <p:cNvSpPr/>
          <p:nvPr/>
        </p:nvSpPr>
        <p:spPr>
          <a:xfrm>
            <a:off x="8312270" y="2240278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200">
                <a:solidFill>
                  <a:srgbClr val="000000"/>
                </a:solidFill>
                <a:ea typeface="+mn-lt"/>
                <a:cs typeface="+mn-lt"/>
              </a:rPr>
              <a:t>Expression ใน Rust ทุกตัวจะมี Type และ Compiler จะตรวจสอบ Type ตั้งแต่ Compile Time เมื่อใช้ </a:t>
            </a:r>
            <a:r>
              <a:rPr lang="th-TH" sz="1200" b="1">
                <a:solidFill>
                  <a:srgbClr val="000000"/>
                </a:solidFill>
                <a:ea typeface="+mn-lt"/>
                <a:cs typeface="+mn-lt"/>
              </a:rPr>
              <a:t>Expression </a:t>
            </a:r>
            <a:r>
              <a:rPr lang="th-TH" sz="1200">
                <a:solidFill>
                  <a:srgbClr val="000000"/>
                </a:solidFill>
                <a:ea typeface="+mn-lt"/>
                <a:cs typeface="+mn-lt"/>
              </a:rPr>
              <a:t>เพื่อสร้างค่า </a:t>
            </a:r>
            <a:r>
              <a:rPr lang="th-TH" sz="1200" b="1">
                <a:solidFill>
                  <a:srgbClr val="000000"/>
                </a:solidFill>
                <a:ea typeface="+mn-lt"/>
                <a:cs typeface="+mn-lt"/>
              </a:rPr>
              <a:t>Type </a:t>
            </a:r>
            <a:r>
              <a:rPr lang="th-TH" sz="1200">
                <a:solidFill>
                  <a:srgbClr val="000000"/>
                </a:solidFill>
                <a:ea typeface="+mn-lt"/>
                <a:cs typeface="+mn-lt"/>
              </a:rPr>
              <a:t>ของค่าที่ได้ต้องสอดคล้องกัน โดยเฉพาะเมื่อใช้ </a:t>
            </a:r>
            <a:r>
              <a:rPr lang="th-TH" sz="1200" b="1">
                <a:solidFill>
                  <a:srgbClr val="000000"/>
                </a:solidFill>
                <a:ea typeface="+mn-lt"/>
                <a:cs typeface="+mn-lt"/>
              </a:rPr>
              <a:t>if</a:t>
            </a:r>
            <a:r>
              <a:rPr lang="th-TH" sz="1200">
                <a:solidFill>
                  <a:srgbClr val="000000"/>
                </a:solidFill>
                <a:ea typeface="+mn-lt"/>
                <a:cs typeface="+mn-lt"/>
              </a:rPr>
              <a:t> เป็น </a:t>
            </a:r>
            <a:r>
              <a:rPr lang="th-TH" sz="1200" b="1">
                <a:solidFill>
                  <a:srgbClr val="000000"/>
                </a:solidFill>
                <a:ea typeface="+mn-lt"/>
                <a:cs typeface="+mn-lt"/>
              </a:rPr>
              <a:t>Expression</a:t>
            </a:r>
            <a:endParaRPr lang="th-TH" b="1">
              <a:ea typeface="+mn-lt"/>
              <a:cs typeface="+mn-lt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2B8D7A56-1AEB-3B25-33A4-63725BD5147B}"/>
              </a:ext>
            </a:extLst>
          </p:cNvPr>
          <p:cNvSpPr/>
          <p:nvPr/>
        </p:nvSpPr>
        <p:spPr>
          <a:xfrm>
            <a:off x="640077" y="4160936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th-TH">
              <a:ea typeface="Calibri"/>
              <a:cs typeface="Cordia New"/>
            </a:endParaRP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DF7C7147-9C28-78F1-DECC-C47EB0655987}"/>
              </a:ext>
            </a:extLst>
          </p:cNvPr>
          <p:cNvSpPr/>
          <p:nvPr/>
        </p:nvSpPr>
        <p:spPr>
          <a:xfrm>
            <a:off x="8312268" y="4119182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200">
                <a:solidFill>
                  <a:srgbClr val="000000"/>
                </a:solidFill>
                <a:ea typeface="+mn-lt"/>
                <a:cs typeface="+mn-lt"/>
              </a:rPr>
              <a:t>Rust ออกแบบ Expression &amp; Statements ให้ทำงานร่วมกับ Static Type System และ Ownership System เพื่อให้ได้ทั้ง Safety, Reliability และ Performance</a:t>
            </a:r>
            <a:endParaRPr lang="en-US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97D3E48-85FA-02D1-A219-3D110BB04D47}"/>
              </a:ext>
            </a:extLst>
          </p:cNvPr>
          <p:cNvSpPr/>
          <p:nvPr/>
        </p:nvSpPr>
        <p:spPr>
          <a:xfrm>
            <a:off x="640633" y="4119182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200">
                <a:solidFill>
                  <a:srgbClr val="000000"/>
                </a:solidFill>
                <a:ea typeface="+mn-lt"/>
                <a:cs typeface="+mn-lt"/>
              </a:rPr>
              <a:t>Expression และ Statement ใน Rust ทำงานร่วมกับระบบ Ownership, Borrowing และ Lifetime ซึ่งเป็นหัวใจสำคัญในการจัดการ Memory ของภาษา</a:t>
            </a:r>
            <a:endParaRPr 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3E72AFAB-8BCD-A01A-55D6-23BE2793CBC8}"/>
              </a:ext>
            </a:extLst>
          </p:cNvPr>
          <p:cNvSpPr/>
          <p:nvPr/>
        </p:nvSpPr>
        <p:spPr>
          <a:xfrm>
            <a:off x="4471787" y="4119182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200">
                <a:solidFill>
                  <a:srgbClr val="000000"/>
                </a:solidFill>
                <a:ea typeface="+mn-lt"/>
                <a:cs typeface="+mn-lt"/>
              </a:rPr>
              <a:t>Function สามารถใช้ซ่อนรายละเอียดการทำงานและรับ Expression เป็น Input/Output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AC181-A354-9DC2-1496-B912F23C3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B61792-C614-1FEA-32DC-7A7A794BBDA8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07669CD-A2C5-DCE6-0B4C-FBFC3DD62CE9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8FAA28-B52D-6355-F21B-C9E2EEC276EE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6D73B09-AC04-8643-3EA2-08EDB620302E}"/>
              </a:ext>
            </a:extLst>
          </p:cNvPr>
          <p:cNvSpPr/>
          <p:nvPr/>
        </p:nvSpPr>
        <p:spPr>
          <a:xfrm>
            <a:off x="457200" y="1711960"/>
            <a:ext cx="11276584" cy="461772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08B1A42-BDC9-10A2-607A-BDF06B95BEB7}"/>
              </a:ext>
            </a:extLst>
          </p:cNvPr>
          <p:cNvSpPr/>
          <p:nvPr/>
        </p:nvSpPr>
        <p:spPr>
          <a:xfrm>
            <a:off x="640080" y="1828800"/>
            <a:ext cx="984504" cy="36576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</a:t>
            </a:r>
            <a:endParaRPr lang="en-US"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DD83AE7-DD6A-50CA-83B6-418EFCAED01D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6545692-8456-45D3-28EC-1885E37BC6B1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32F20F46-05CC-A95B-8C82-E2780FB7D5A0}"/>
              </a:ext>
            </a:extLst>
          </p:cNvPr>
          <p:cNvSpPr/>
          <p:nvPr/>
        </p:nvSpPr>
        <p:spPr>
          <a:xfrm>
            <a:off x="965200" y="2311400"/>
            <a:ext cx="975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solidFill>
                  <a:srgbClr val="222222"/>
                </a:solidFill>
                <a:ea typeface="+mn-lt"/>
                <a:cs typeface="+mn-lt"/>
              </a:rPr>
              <a:t>ใน Rust, Expression คือโครงสร้างที่สามารถประเมินผลแล้วได้ค่า (Value) ส่วน Statement คือคำสั่งที่ใช้ดำเนินการบางอย่าง โดย Rust ใช้ { } เพื่อกำหนด Block และใช้ ; เพื่อจบ Statement ในหลายกรณี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76D7AAD-A0BB-CEDC-C885-3A08C0B69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30" y="3299142"/>
            <a:ext cx="2044700" cy="716915"/>
          </a:xfrm>
          <a:prstGeom prst="rect">
            <a:avLst/>
          </a:prstGeom>
        </p:spPr>
      </p:pic>
      <p:sp>
        <p:nvSpPr>
          <p:cNvPr id="30" name="Text 5">
            <a:extLst>
              <a:ext uri="{FF2B5EF4-FFF2-40B4-BE49-F238E27FC236}">
                <a16:creationId xmlns:a16="http://schemas.microsoft.com/office/drawing/2014/main" id="{70DF0A96-19E7-71CC-2C57-C4EA96848CB0}"/>
              </a:ext>
            </a:extLst>
          </p:cNvPr>
          <p:cNvSpPr/>
          <p:nvPr/>
        </p:nvSpPr>
        <p:spPr>
          <a:xfrm>
            <a:off x="965199" y="2951480"/>
            <a:ext cx="1035304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>
                <a:solidFill>
                  <a:srgbClr val="222222"/>
                </a:solidFill>
                <a:ea typeface="Calibri"/>
                <a:cs typeface="Calibri"/>
              </a:rPr>
              <a:t>ตัวอย่าง:</a:t>
            </a: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19ACF1A8-A8F6-FD60-9A6B-D950B597851A}"/>
              </a:ext>
            </a:extLst>
          </p:cNvPr>
          <p:cNvSpPr/>
          <p:nvPr/>
        </p:nvSpPr>
        <p:spPr>
          <a:xfrm>
            <a:off x="5841999" y="3418840"/>
            <a:ext cx="382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solidFill>
                  <a:srgbClr val="222222"/>
                </a:solidFill>
                <a:ea typeface="+mn-lt"/>
                <a:cs typeface="+mn-lt"/>
              </a:rPr>
              <a:t>10 + 5 เป็น Expression เพราะให้ค่า 15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222222"/>
                </a:solidFill>
                <a:ea typeface="+mn-lt"/>
                <a:cs typeface="+mn-lt"/>
              </a:rPr>
              <a:t>let x = ...; เป็น Statement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033CB2C6-36E2-3FBD-597C-9E07E140405E}"/>
              </a:ext>
            </a:extLst>
          </p:cNvPr>
          <p:cNvSpPr/>
          <p:nvPr/>
        </p:nvSpPr>
        <p:spPr>
          <a:xfrm>
            <a:off x="965198" y="4201160"/>
            <a:ext cx="993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solidFill>
                  <a:srgbClr val="222222"/>
                </a:solidFill>
                <a:ea typeface="+mn-lt"/>
                <a:cs typeface="+mn-lt"/>
              </a:rPr>
              <a:t>Rust มีลักษณะเด่นคือ Expression สามารถอยู่ในตำแหน่งที่ต้องการค่าได้ เช่น if สามารถใช้เป็น Expression ได้</a:t>
            </a:r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BDF5BA6-F81C-221C-4242-0E68FCC45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662" y="4662805"/>
            <a:ext cx="2352675" cy="1352550"/>
          </a:xfrm>
          <a:prstGeom prst="rect">
            <a:avLst/>
          </a:prstGeom>
        </p:spPr>
      </p:pic>
      <p:sp>
        <p:nvSpPr>
          <p:cNvPr id="34" name="Text 5">
            <a:extLst>
              <a:ext uri="{FF2B5EF4-FFF2-40B4-BE49-F238E27FC236}">
                <a16:creationId xmlns:a16="http://schemas.microsoft.com/office/drawing/2014/main" id="{867F1D18-81E0-59A4-EAD1-34397EC4F1FD}"/>
              </a:ext>
            </a:extLst>
          </p:cNvPr>
          <p:cNvSpPr/>
          <p:nvPr/>
        </p:nvSpPr>
        <p:spPr>
          <a:xfrm>
            <a:off x="965198" y="4648200"/>
            <a:ext cx="1035304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>
                <a:solidFill>
                  <a:srgbClr val="222222"/>
                </a:solidFill>
                <a:ea typeface="Calibri"/>
                <a:cs typeface="Calibri"/>
              </a:rPr>
              <a:t>ตัวอย่าง:</a:t>
            </a:r>
          </a:p>
        </p:txBody>
      </p:sp>
    </p:spTree>
    <p:extLst>
      <p:ext uri="{BB962C8B-B14F-4D97-AF65-F5344CB8AC3E}">
        <p14:creationId xmlns:p14="http://schemas.microsoft.com/office/powerpoint/2010/main" val="2210279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1EBF27-A427-CCA3-8FEF-54FE7C6F2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68E796-660A-1EFB-9337-1EA871BFF10C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3C2371-0FBF-F065-350E-D5B2D3BB3321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AF60E93-6A58-975A-CDE3-D922A77D5753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97A8F85-89D2-2948-8238-961A9AB52987}"/>
              </a:ext>
            </a:extLst>
          </p:cNvPr>
          <p:cNvSpPr/>
          <p:nvPr/>
        </p:nvSpPr>
        <p:spPr>
          <a:xfrm>
            <a:off x="457200" y="1691640"/>
            <a:ext cx="11286744" cy="417068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1F41C8-14BC-4D7E-01A4-0C2044F3477A}"/>
              </a:ext>
            </a:extLst>
          </p:cNvPr>
          <p:cNvSpPr/>
          <p:nvPr/>
        </p:nvSpPr>
        <p:spPr>
          <a:xfrm>
            <a:off x="640080" y="1828800"/>
            <a:ext cx="1544798" cy="399377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8B2E2E"/>
                </a:solidFill>
                <a:latin typeface="Cambria"/>
                <a:ea typeface="Cambria"/>
              </a:rPr>
              <a:t>Semantics</a:t>
            </a:r>
            <a:endParaRPr lang="en-US"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16E9B92-D466-943A-2BC6-E56A6D5CE60A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1A09446-4933-9CA3-47B0-4D053AED99C0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3875EA-ABB9-BD5A-E671-95095F022F75}"/>
              </a:ext>
            </a:extLst>
          </p:cNvPr>
          <p:cNvSpPr txBox="1"/>
          <p:nvPr/>
        </p:nvSpPr>
        <p:spPr>
          <a:xfrm>
            <a:off x="1176618" y="2375647"/>
            <a:ext cx="6600264" cy="1034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Expression มีหน้าที่</a:t>
            </a:r>
            <a:r>
              <a:rPr lang="en-US">
                <a:ea typeface="+mn-lt"/>
                <a:cs typeface="+mn-lt"/>
              </a:rPr>
              <a:t>ประเมินผลและ</a:t>
            </a:r>
            <a:r>
              <a:rPr lang="en-US"/>
              <a:t>สร้าง Value </a:t>
            </a:r>
          </a:p>
          <a:p>
            <a:r>
              <a:rPr lang="en-US"/>
              <a:t>Statement มีหน้าที่ดำเนินการหรือเปลี่ยนแปลงสถานะของโปรแกรม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4AB454-8318-5773-1597-9D41AB0D44F6}"/>
              </a:ext>
            </a:extLst>
          </p:cNvPr>
          <p:cNvSpPr txBox="1"/>
          <p:nvPr/>
        </p:nvSpPr>
        <p:spPr>
          <a:xfrm>
            <a:off x="818030" y="3059205"/>
            <a:ext cx="1187823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ตัวอย่าง: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61FF6F-F723-4E0F-8D15-BF8E60CD5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762" y="3539938"/>
            <a:ext cx="2221005" cy="16495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8DC6AB-538E-93F4-1252-4029EE2E7159}"/>
              </a:ext>
            </a:extLst>
          </p:cNvPr>
          <p:cNvSpPr txBox="1"/>
          <p:nvPr/>
        </p:nvSpPr>
        <p:spPr>
          <a:xfrm>
            <a:off x="6745940" y="3406587"/>
            <a:ext cx="2913529" cy="24191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การทำงานคือ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สร้าง a และกำหนดค่า 10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ประเมิน a + 5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ได้ค่า 15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Block คืนค่า 15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x จึงมีค่า 15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5804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0C8F6B-42F7-7DFC-CDC0-3FD97B8B1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A769B8-64E8-B823-8A12-FBA15FE76A13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A38D4F-5CE9-13F9-518F-17C9C6D79504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D56542-EFDE-8514-63BE-F3D460A2136B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C623B14-C7E6-B76F-D8E3-970F7C2EF0F9}"/>
              </a:ext>
            </a:extLst>
          </p:cNvPr>
          <p:cNvSpPr/>
          <p:nvPr/>
        </p:nvSpPr>
        <p:spPr>
          <a:xfrm>
            <a:off x="457200" y="1691640"/>
            <a:ext cx="11286744" cy="417068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05D9836-5B61-EE00-882E-8C3237E3BA6A}"/>
              </a:ext>
            </a:extLst>
          </p:cNvPr>
          <p:cNvSpPr/>
          <p:nvPr/>
        </p:nvSpPr>
        <p:spPr>
          <a:xfrm>
            <a:off x="640080" y="1828800"/>
            <a:ext cx="1544798" cy="399377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8B2E2E"/>
                </a:solidFill>
                <a:latin typeface="Cambria"/>
                <a:ea typeface="Cambria"/>
              </a:rPr>
              <a:t>Semantics</a:t>
            </a:r>
            <a:endParaRPr lang="en-US"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E53608D-59B0-D1C1-CE78-E00EF84171F8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98CD914-20F8-7132-66CE-28D8EDEEB86C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98C255-24C9-55D1-98AE-CECCDB4E2ED8}"/>
              </a:ext>
            </a:extLst>
          </p:cNvPr>
          <p:cNvSpPr txBox="1"/>
          <p:nvPr/>
        </p:nvSpPr>
        <p:spPr>
          <a:xfrm>
            <a:off x="1176618" y="2375647"/>
            <a:ext cx="6600264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อีกจุดสำคัญคือ ; มีผลต่อ Semantics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874934-3B06-8D97-3732-28B2DC51A34B}"/>
              </a:ext>
            </a:extLst>
          </p:cNvPr>
          <p:cNvSpPr txBox="1"/>
          <p:nvPr/>
        </p:nvSpPr>
        <p:spPr>
          <a:xfrm>
            <a:off x="3496236" y="4762500"/>
            <a:ext cx="8337175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Expression ถูกเปลี่ยนให้เป็น Statement และค่าของ Block จะเป็น () หรือ Unit Type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B6F8F0-DF89-9919-CFE4-471F14323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463" y="2905125"/>
            <a:ext cx="1551456" cy="10477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677567-37A6-DBBB-4699-18577F006740}"/>
              </a:ext>
            </a:extLst>
          </p:cNvPr>
          <p:cNvSpPr txBox="1"/>
          <p:nvPr/>
        </p:nvSpPr>
        <p:spPr>
          <a:xfrm>
            <a:off x="3496236" y="3193675"/>
            <a:ext cx="2386852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Block นี้คืนค่า 15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5CCDEC-E37B-7B0D-7C23-B1F61AEE9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566" y="4395509"/>
            <a:ext cx="1630455" cy="121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373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D89265-0B30-6F76-A8CF-579939FB4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8D4DB1-D9DF-542F-D7B3-5C32F6548E52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E754D4-8305-800F-A3EF-D7DA71C37704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E7ECDD-32BD-216F-4B16-67A5212CF5B4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C6C8068-54CC-6289-3F5D-BCC200423870}"/>
              </a:ext>
            </a:extLst>
          </p:cNvPr>
          <p:cNvSpPr/>
          <p:nvPr/>
        </p:nvSpPr>
        <p:spPr>
          <a:xfrm>
            <a:off x="221876" y="1714052"/>
            <a:ext cx="11286744" cy="417068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27DDC40-FACF-61F9-7F09-D58565C331FD}"/>
              </a:ext>
            </a:extLst>
          </p:cNvPr>
          <p:cNvSpPr/>
          <p:nvPr/>
        </p:nvSpPr>
        <p:spPr>
          <a:xfrm>
            <a:off x="640080" y="1828800"/>
            <a:ext cx="1948209" cy="343349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8B2E2E"/>
                </a:solidFill>
                <a:latin typeface="Cambria"/>
                <a:ea typeface="Cambria"/>
              </a:rPr>
              <a:t>Type System</a:t>
            </a:r>
            <a:endParaRPr lang="en-US"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62602C9-0A52-B80E-891B-74230E996E74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90842B3-CDA7-037C-4C1C-655F955D2F8D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D9934F-4377-5FDF-AFB0-2B1366A43959}"/>
              </a:ext>
            </a:extLst>
          </p:cNvPr>
          <p:cNvSpPr txBox="1"/>
          <p:nvPr/>
        </p:nvSpPr>
        <p:spPr>
          <a:xfrm>
            <a:off x="3798794" y="2879912"/>
            <a:ext cx="8684558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Expression 10 + 20 มี Type เป็นจำนวนเต็ม เช่น int ตามบริบทของการอนุมาน Type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F4DBA7-32D5-D7B2-FE76-3A9BDFE5EC0F}"/>
              </a:ext>
            </a:extLst>
          </p:cNvPr>
          <p:cNvSpPr txBox="1"/>
          <p:nvPr/>
        </p:nvSpPr>
        <p:spPr>
          <a:xfrm>
            <a:off x="705971" y="2879911"/>
            <a:ext cx="1120588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ตัวอย่าง 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DB5396-C129-DF94-949E-B5171BA50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843" y="2786342"/>
            <a:ext cx="1733550" cy="590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B31DA51-EABF-4687-4D44-D0940EA12043}"/>
              </a:ext>
            </a:extLst>
          </p:cNvPr>
          <p:cNvSpPr txBox="1"/>
          <p:nvPr/>
        </p:nvSpPr>
        <p:spPr>
          <a:xfrm>
            <a:off x="1176617" y="3686735"/>
            <a:ext cx="8684558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Rust ยังตรวจสอบว่า Expression มี Type ที่สอดคล้องกันหรือไม่</a:t>
            </a:r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A1E7DF-2F7D-4382-C010-2FB5FDC9F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002" y="4257956"/>
            <a:ext cx="1892114" cy="11995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3BD4C8-B932-0845-0CF4-0C9C92D47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8353" y="4245349"/>
            <a:ext cx="2017060" cy="122480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4AA198D-4E84-F952-4A32-46B87366245A}"/>
              </a:ext>
            </a:extLst>
          </p:cNvPr>
          <p:cNvSpPr txBox="1"/>
          <p:nvPr/>
        </p:nvSpPr>
        <p:spPr>
          <a:xfrm>
            <a:off x="8931088" y="4359088"/>
            <a:ext cx="2342029" cy="12557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ไม่ถูกต้อง เพราะ Branch หนึ่งให้ int และอีก Branch ให้ string</a:t>
            </a:r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2BF946-E2C3-2670-9142-0B8865060CB8}"/>
              </a:ext>
            </a:extLst>
          </p:cNvPr>
          <p:cNvSpPr txBox="1"/>
          <p:nvPr/>
        </p:nvSpPr>
        <p:spPr>
          <a:xfrm>
            <a:off x="3563469" y="4459940"/>
            <a:ext cx="2129117" cy="8679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ถูกต้อง เพราะทั้งสอง Branch ให้ค่า int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04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A65FBD-F50E-B105-0D2D-F529DDB63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2B2AD6-E49E-7DD5-D1DA-334E3337AFD1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06D9C48-3B02-939E-AC16-0200D7BED239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E4D67B-7592-27A3-F1EA-A2FAD443BFB2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A657C4E-E383-28DE-4887-4F8A17534D7A}"/>
              </a:ext>
            </a:extLst>
          </p:cNvPr>
          <p:cNvSpPr/>
          <p:nvPr/>
        </p:nvSpPr>
        <p:spPr>
          <a:xfrm>
            <a:off x="457200" y="1714051"/>
            <a:ext cx="11275539" cy="4596504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AE9C5A4-5685-8652-28A4-AB54EDE55175}"/>
              </a:ext>
            </a:extLst>
          </p:cNvPr>
          <p:cNvSpPr/>
          <p:nvPr/>
        </p:nvSpPr>
        <p:spPr>
          <a:xfrm>
            <a:off x="640080" y="1828800"/>
            <a:ext cx="2911915" cy="47781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8B2E2E"/>
                </a:solidFill>
                <a:latin typeface="Cambria"/>
                <a:ea typeface="Cambria"/>
              </a:rPr>
              <a:t>Memory / Resource</a:t>
            </a:r>
            <a:endParaRPr lang="en-US"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C86BFD8-DD03-3B79-1843-E9DF17841E26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8A5181C-F274-D787-7905-58D5F76D0CC9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DD233-3D19-9D9F-20C2-2A9FA02CBD9D}"/>
              </a:ext>
            </a:extLst>
          </p:cNvPr>
          <p:cNvSpPr txBox="1"/>
          <p:nvPr/>
        </p:nvSpPr>
        <p:spPr>
          <a:xfrm>
            <a:off x="896470" y="2442883"/>
            <a:ext cx="10387852" cy="8679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Expression และ Statement ใน Rust ทำงานร่วมกับระบบ Ownership, Borrowing และ Lifetime ซึ่งเป็นหัวใจสำคัญในการจัดการ Memory ของภาษา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C0FC59-FC92-485E-3FEB-84449C5C3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257" y="3196759"/>
            <a:ext cx="2886075" cy="7334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3EF109-D071-5C13-28C4-0EEA580BFC57}"/>
              </a:ext>
            </a:extLst>
          </p:cNvPr>
          <p:cNvSpPr txBox="1"/>
          <p:nvPr/>
        </p:nvSpPr>
        <p:spPr>
          <a:xfrm>
            <a:off x="4560793" y="3137648"/>
            <a:ext cx="6420970" cy="8679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เมื่อ s1 ถูกกำหนดให้ s2 จะเกิด Move ทำให้ Ownership ของข้อมูลย้ายไปยัง s2</a:t>
            </a:r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C592E1-A499-E6FC-9448-2B5935466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019" y="4170269"/>
            <a:ext cx="2114550" cy="4000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EA6CA3-873A-05E8-B69B-60644E827563}"/>
              </a:ext>
            </a:extLst>
          </p:cNvPr>
          <p:cNvSpPr txBox="1"/>
          <p:nvPr/>
        </p:nvSpPr>
        <p:spPr>
          <a:xfrm>
            <a:off x="3675528" y="4168588"/>
            <a:ext cx="6420970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จะเกิด Compile Error เพราะ s1 ไม่ได้เป็นเจ้าของข้อมูลแล้ว</a:t>
            </a:r>
            <a:endParaRPr lang="en-US"/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23F5FB4B-8C47-C7CF-7B3E-ABD2196FAAAF}"/>
              </a:ext>
            </a:extLst>
          </p:cNvPr>
          <p:cNvSpPr txBox="1"/>
          <p:nvPr/>
        </p:nvSpPr>
        <p:spPr>
          <a:xfrm>
            <a:off x="885264" y="4796118"/>
            <a:ext cx="10387852" cy="4801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Rust ยังสามารถใช้ Borrowing:</a:t>
            </a:r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6010FA-2969-044A-8949-13AF57F913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407179" y="5273209"/>
            <a:ext cx="3057525" cy="771525"/>
          </a:xfrm>
          <a:prstGeom prst="rect">
            <a:avLst/>
          </a:prstGeom>
        </p:spPr>
      </p:pic>
      <p:sp>
        <p:nvSpPr>
          <p:cNvPr id="16" name="TextBox 10">
            <a:extLst>
              <a:ext uri="{FF2B5EF4-FFF2-40B4-BE49-F238E27FC236}">
                <a16:creationId xmlns:a16="http://schemas.microsoft.com/office/drawing/2014/main" id="{76011D2A-CAE4-2226-6C2B-BB67D9CD7247}"/>
              </a:ext>
            </a:extLst>
          </p:cNvPr>
          <p:cNvSpPr txBox="1"/>
          <p:nvPr/>
        </p:nvSpPr>
        <p:spPr>
          <a:xfrm>
            <a:off x="4852146" y="5412442"/>
            <a:ext cx="6420970" cy="4801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&amp;s คือการยืมข้อมูลโดยไม่ย้าย Ownership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53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BFE2AB-A8B4-E133-5AAB-3FA5906E8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5E2CF6-0E95-5162-6281-46E6951E392E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177308-19A6-FA6D-432D-5F858598A456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73F05D-B466-AF0F-A657-DE20A286B25C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A364DCB-27A8-12DB-CF47-434EC162E65A}"/>
              </a:ext>
            </a:extLst>
          </p:cNvPr>
          <p:cNvSpPr/>
          <p:nvPr/>
        </p:nvSpPr>
        <p:spPr>
          <a:xfrm>
            <a:off x="457200" y="1691640"/>
            <a:ext cx="11286744" cy="417068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8E021F6-241A-7A80-B444-5E8643226BA0}"/>
              </a:ext>
            </a:extLst>
          </p:cNvPr>
          <p:cNvSpPr/>
          <p:nvPr/>
        </p:nvSpPr>
        <p:spPr>
          <a:xfrm>
            <a:off x="640080" y="1828800"/>
            <a:ext cx="1903386" cy="43299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8B2E2E"/>
                </a:solidFill>
                <a:latin typeface="Cambria"/>
                <a:ea typeface="Cambria"/>
              </a:rPr>
              <a:t>Abstraction</a:t>
            </a:r>
            <a:endParaRPr lang="en-US"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88DC458-68E8-84FE-5A2F-C13B36B1828C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4556D11-EF7F-F22C-3C32-DC261B650C7D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CE13B3-BA05-DFF9-19BF-7A94049D4479}"/>
              </a:ext>
            </a:extLst>
          </p:cNvPr>
          <p:cNvSpPr txBox="1"/>
          <p:nvPr/>
        </p:nvSpPr>
        <p:spPr>
          <a:xfrm>
            <a:off x="896470" y="2442883"/>
            <a:ext cx="10387852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Function สามารถใช้ซ่อนรายละเอียดการทำงานและรับ Expression เป็น Input/Output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70C1C6-EE61-D7D0-2038-1D3B88EFB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288" y="3426479"/>
            <a:ext cx="4363010" cy="12713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4A4747-739D-0043-15C0-44211345CF84}"/>
              </a:ext>
            </a:extLst>
          </p:cNvPr>
          <p:cNvSpPr txBox="1"/>
          <p:nvPr/>
        </p:nvSpPr>
        <p:spPr>
          <a:xfrm>
            <a:off x="6095999" y="3776383"/>
            <a:ext cx="4796118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a + b เป็น Expression ที่สร้างผลลัพธ์ให้ Function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75715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E8481C-EB03-3643-0DA7-7390A13D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EF4859-4BAB-077E-20EF-3F84C6B26F1F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FF1AEC-08B1-0CD3-A901-4284D01469D5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3AF3D9-AE24-34BB-F535-E28AD7BBB308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FBD2789-9441-001E-9FB6-5D7D2075B0C9}"/>
              </a:ext>
            </a:extLst>
          </p:cNvPr>
          <p:cNvSpPr/>
          <p:nvPr/>
        </p:nvSpPr>
        <p:spPr>
          <a:xfrm>
            <a:off x="457200" y="1714051"/>
            <a:ext cx="11275539" cy="4518063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91B826-A0BA-C679-862D-0A511F863FA4}"/>
              </a:ext>
            </a:extLst>
          </p:cNvPr>
          <p:cNvSpPr/>
          <p:nvPr/>
        </p:nvSpPr>
        <p:spPr>
          <a:xfrm>
            <a:off x="640080" y="1828800"/>
            <a:ext cx="2049062" cy="37696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8B2E2E"/>
                </a:solidFill>
                <a:latin typeface="Cambria"/>
                <a:ea typeface="Cambria"/>
              </a:rPr>
              <a:t>Why Rust?</a:t>
            </a:r>
            <a:endParaRPr lang="en-US"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70CDA77-6243-03C7-59C1-DD0AF01DF96E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EBA6B24-68CB-88A9-CA04-A1CC60E10057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1AE4A3-D804-F396-CDD9-4B89D2E5519C}"/>
              </a:ext>
            </a:extLst>
          </p:cNvPr>
          <p:cNvSpPr txBox="1"/>
          <p:nvPr/>
        </p:nvSpPr>
        <p:spPr>
          <a:xfrm>
            <a:off x="1042146" y="2454090"/>
            <a:ext cx="10107704" cy="42965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Rust ออกแบบ Expression &amp; Statements ให้ทำงานร่วมกับ Static Type System และ Ownership System เพื่อให้ได้ทั้ง Safety, Reliability และ Performance </a:t>
            </a:r>
            <a:endParaRPr lang="en-US" sz="1600"/>
          </a:p>
          <a:p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Safety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: Compiler ตรวจสอบ Type, Ownership และ Borrowing ทำให้สามารถตรวจพบปัญหาหลายอย่างก่อน Runtime</a:t>
            </a:r>
          </a:p>
          <a:p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Reliability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: การบังคับใช้ Type และ Ownership ทำให้พฤติกรรมของโปรแกรมมีความชัดเจนและลดข้อผิดพลาดจากการจัดการข้อมูล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endParaRPr lang="en-US" sz="1600">
              <a:ea typeface="Calibri" panose="020F0502020204030204"/>
              <a:cs typeface="Calibri" panose="020F0502020204030204"/>
            </a:endParaRPr>
          </a:p>
          <a:p>
            <a:r>
              <a:rPr lang="en-US" sz="1600" b="1">
                <a:ea typeface="+mn-lt"/>
                <a:cs typeface="+mn-lt"/>
              </a:rPr>
              <a:t>Performance </a:t>
            </a:r>
            <a:r>
              <a:rPr lang="en-US" sz="1600">
                <a:ea typeface="+mn-lt"/>
                <a:cs typeface="+mn-lt"/>
              </a:rPr>
              <a:t>: Rust ไม่มี Garbage Collector จึงสามารถควบคุม Resource ได้อย่างมีประสิทธิภาพ และมี Runtime Overhead ต่ำ เหมาะกับงานที่ต้องการ Performance สูง</a:t>
            </a:r>
            <a:endParaRPr lang="en-US" sz="1600"/>
          </a:p>
          <a:p>
            <a:endParaRPr lang="en-US" sz="1600" b="1">
              <a:ea typeface="+mn-lt"/>
              <a:cs typeface="+mn-lt"/>
            </a:endParaRPr>
          </a:p>
          <a:p>
            <a:r>
              <a:rPr lang="en-US" sz="1600" b="1">
                <a:ea typeface="+mn-lt"/>
                <a:cs typeface="+mn-lt"/>
              </a:rPr>
              <a:t>Expression-oriented Design</a:t>
            </a:r>
            <a:r>
              <a:rPr lang="en-US" sz="1600">
                <a:ea typeface="+mn-lt"/>
                <a:cs typeface="+mn-lt"/>
              </a:rPr>
              <a:t> การที่ if, match และ Block สามารถคืนค่าได้ ทำให้เขียน Logic ได้กระชับและสามารถนำผลลัพธ์ไปประกอบกับ Expression อื่นได้ทันที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296364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7874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Common Mistakes — ข้อผิดพลาดที่พบบ่อย</a:t>
            </a:r>
            <a:endParaRPr lang="en-US" sz="30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Incorrect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67712"/>
            <a:ext cx="48463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[โค้ดที่ผิด / ตัวอย่างข้อผิดพลาด]</a:t>
            </a:r>
            <a:endParaRPr lang="en-US" sz="1400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400"/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  let x = {</a:t>
            </a:r>
            <a:endParaRPr lang="en-US" sz="1400">
              <a:solidFill>
                <a:srgbClr val="000000"/>
              </a:solidFill>
              <a:latin typeface="Courier New"/>
              <a:ea typeface="Calibri" panose="020F0502020204030204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5 + 3;</a:t>
            </a:r>
            <a:endParaRPr lang="en-US"/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  };</a:t>
            </a:r>
            <a:endParaRPr lang="en-US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60350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B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6035040" y="210312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2267712"/>
            <a:ext cx="48463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[โค้ดที่แก้ไขถูกต้อง]</a:t>
            </a:r>
            <a:endParaRPr lang="en-US" sz="1400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400"/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  let x = {</a:t>
            </a:r>
            <a:endParaRPr lang="en-US" sz="1400">
              <a:solidFill>
                <a:srgbClr val="000000"/>
              </a:solidFill>
              <a:latin typeface="Courier New"/>
              <a:ea typeface="Calibri" panose="020F0502020204030204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5 + 3</a:t>
            </a:r>
            <a:endParaRPr lang="en-US"/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  };</a:t>
            </a:r>
            <a:endParaRPr lang="en-US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57200" y="4251960"/>
            <a:ext cx="11274552" cy="1463040"/>
          </a:xfrm>
          <a:prstGeom prst="roundRect">
            <a:avLst>
              <a:gd name="adj" fmla="val 5000"/>
            </a:avLst>
          </a:prstGeom>
          <a:solidFill>
            <a:srgbClr val="F7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38912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ทำไมถึงผิด? (Why?)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695960" y="4693920"/>
            <a:ext cx="10969752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/>
              <a:buChar char="Ø"/>
            </a:pPr>
            <a:r>
              <a:rPr lang="en-US" sz="1400" b="1" err="1">
                <a:solidFill>
                  <a:srgbClr val="222222"/>
                </a:solidFill>
                <a:ea typeface="+mn-lt"/>
                <a:cs typeface="+mn-lt"/>
              </a:rPr>
              <a:t>สาเหตุ</a:t>
            </a:r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: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เกิดจากผู้เขียนคุ้นเคยกับภาษาที่มักจบคำสั่งด้วย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;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จึงเผลอใส่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;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หลัง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expression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สุดท้ายของ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block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ทำให้ค่าของ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expression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นั้นไม่ถูกใช้เป็นค่าของ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block</a:t>
            </a:r>
          </a:p>
          <a:p>
            <a:pPr marL="285750" indent="-285750">
              <a:buFont typeface="Wingdings"/>
              <a:buChar char="Ø"/>
            </a:pPr>
            <a:r>
              <a:rPr lang="en-US" sz="1400" b="1" err="1">
                <a:solidFill>
                  <a:srgbClr val="222222"/>
                </a:solidFill>
                <a:ea typeface="+mn-lt"/>
                <a:cs typeface="+mn-lt"/>
              </a:rPr>
              <a:t>หลักการของ</a:t>
            </a:r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 Rust </a:t>
            </a:r>
            <a:r>
              <a:rPr lang="en-US" sz="1400" b="1" err="1">
                <a:solidFill>
                  <a:srgbClr val="222222"/>
                </a:solidFill>
                <a:ea typeface="+mn-lt"/>
                <a:cs typeface="+mn-lt"/>
              </a:rPr>
              <a:t>ที่เกี่ยวข้อง</a:t>
            </a:r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: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 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Rust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เป็นภาษาแบบ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200" b="1">
                <a:solidFill>
                  <a:srgbClr val="222222"/>
                </a:solidFill>
                <a:ea typeface="+mn-lt"/>
                <a:cs typeface="+mn-lt"/>
              </a:rPr>
              <a:t>expression-based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โดย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block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สามารถเป็น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expression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และให้ค่าได้จาก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expression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ตัวสุดท้ายที่ไม่มี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;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ต่อท้าย</a:t>
            </a:r>
            <a:endParaRPr lang="en-US" sz="12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C9E7917B-7C60-3BEC-9610-816F3909BC59}"/>
              </a:ext>
            </a:extLst>
          </p:cNvPr>
          <p:cNvSpPr/>
          <p:nvPr/>
        </p:nvSpPr>
        <p:spPr>
          <a:xfrm>
            <a:off x="690880" y="1193799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err="1">
                <a:solidFill>
                  <a:schemeClr val="accent2">
                    <a:lumMod val="76000"/>
                  </a:schemeClr>
                </a:solidFill>
                <a:latin typeface="Cambria"/>
                <a:ea typeface="Cambria"/>
              </a:rPr>
              <a:t>ใส่</a:t>
            </a:r>
            <a:r>
              <a:rPr lang="en-US" sz="1400" b="1">
                <a:solidFill>
                  <a:schemeClr val="accent2">
                    <a:lumMod val="76000"/>
                  </a:schemeClr>
                </a:solidFill>
                <a:latin typeface="Cambria"/>
                <a:ea typeface="Cambria"/>
              </a:rPr>
              <a:t> Semicolon </a:t>
            </a:r>
            <a:r>
              <a:rPr lang="en-US" sz="1400" b="1" err="1">
                <a:solidFill>
                  <a:schemeClr val="accent2">
                    <a:lumMod val="76000"/>
                  </a:schemeClr>
                </a:solidFill>
                <a:latin typeface="Cambria"/>
                <a:ea typeface="Cambria"/>
              </a:rPr>
              <a:t>หลัง</a:t>
            </a:r>
            <a:r>
              <a:rPr lang="en-US" sz="1400" b="1">
                <a:solidFill>
                  <a:schemeClr val="accent2">
                    <a:lumMod val="76000"/>
                  </a:schemeClr>
                </a:solidFill>
                <a:latin typeface="Cambria"/>
                <a:ea typeface="Cambria"/>
              </a:rPr>
              <a:t> Expression </a:t>
            </a:r>
            <a:r>
              <a:rPr lang="en-US" sz="1400" b="1" err="1">
                <a:solidFill>
                  <a:schemeClr val="accent2">
                    <a:lumMod val="76000"/>
                  </a:schemeClr>
                </a:solidFill>
                <a:latin typeface="Cambria"/>
                <a:ea typeface="Cambria"/>
              </a:rPr>
              <a:t>สุดท้าย</a:t>
            </a:r>
            <a:endParaRPr lang="en-US" sz="1400" b="1">
              <a:solidFill>
                <a:schemeClr val="accent2">
                  <a:lumMod val="76000"/>
                </a:schemeClr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324FCF-0D9D-3A23-792A-252129574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968924-DE21-D3A6-E5AB-605404FA0E64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8D4E72-6042-B539-911A-49EF1CD98D57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174769-3FEE-6167-C3F0-86E9A1481E40}"/>
              </a:ext>
            </a:extLst>
          </p:cNvPr>
          <p:cNvSpPr/>
          <p:nvPr/>
        </p:nvSpPr>
        <p:spPr>
          <a:xfrm>
            <a:off x="457200" y="7874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Common Mistakes — ข้อผิดพลาดที่พบบ่อย</a:t>
            </a:r>
            <a:endParaRPr lang="en-US" sz="30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2F0945-FAFA-39D6-045A-921C4BB294AC}"/>
              </a:ext>
            </a:extLst>
          </p:cNvPr>
          <p:cNvSpPr/>
          <p:nvPr/>
        </p:nvSpPr>
        <p:spPr>
          <a:xfrm>
            <a:off x="45720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Incorrect</a:t>
            </a:r>
            <a:endParaRPr lang="en-US" sz="14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C779E1F-4F4E-C70D-5160-9B629532BD5C}"/>
              </a:ext>
            </a:extLst>
          </p:cNvPr>
          <p:cNvSpPr/>
          <p:nvPr/>
        </p:nvSpPr>
        <p:spPr>
          <a:xfrm>
            <a:off x="451153" y="2103120"/>
            <a:ext cx="5309567" cy="2688287"/>
          </a:xfrm>
          <a:prstGeom prst="roundRect">
            <a:avLst>
              <a:gd name="adj" fmla="val 2857"/>
            </a:avLst>
          </a:prstGeom>
          <a:solidFill>
            <a:srgbClr val="1E1E1E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23CA38F-E78F-BB6D-68DD-0F22D42D740A}"/>
              </a:ext>
            </a:extLst>
          </p:cNvPr>
          <p:cNvSpPr/>
          <p:nvPr/>
        </p:nvSpPr>
        <p:spPr>
          <a:xfrm>
            <a:off x="691847" y="2267712"/>
            <a:ext cx="4840273" cy="2304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// [</a:t>
            </a:r>
            <a:r>
              <a:rPr lang="en-US" sz="14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โค้ดที่ผิด</a:t>
            </a: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 / </a:t>
            </a:r>
            <a:r>
              <a:rPr lang="en-US" sz="14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ตัวอย่างข้อผิดพลาด</a:t>
            </a: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]</a:t>
            </a:r>
            <a:endParaRPr lang="en-US" sz="1400">
              <a:latin typeface="Courier New"/>
              <a:cs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fn</a:t>
            </a: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 main() {</a:t>
            </a:r>
            <a:endParaRPr lang="en-US" sz="1400"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let condition = true;</a:t>
            </a:r>
            <a:endParaRPr lang="en-US" sz="1400">
              <a:solidFill>
                <a:srgbClr val="000000"/>
              </a:solidFill>
              <a:latin typeface="Courier New"/>
              <a:ea typeface="Calibri" panose="020F0502020204030204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 let result = if condition {</a:t>
            </a:r>
            <a:endParaRPr lang="en-US"/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  10</a:t>
            </a:r>
            <a:endParaRPr lang="en-US"/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} else {</a:t>
            </a:r>
            <a:endParaRPr lang="en-US"/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  "ten"</a:t>
            </a:r>
            <a:endParaRPr lang="en-US"/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};</a:t>
            </a:r>
            <a:endParaRPr lang="en-US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}</a:t>
            </a:r>
            <a:endParaRPr lang="en-US" sz="1400">
              <a:latin typeface="Courier New"/>
              <a:cs typeface="Courier New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85B1277-A624-1FD0-B432-90AC9745DED0}"/>
              </a:ext>
            </a:extLst>
          </p:cNvPr>
          <p:cNvSpPr/>
          <p:nvPr/>
        </p:nvSpPr>
        <p:spPr>
          <a:xfrm>
            <a:off x="60350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B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</a:t>
            </a:r>
            <a:endParaRPr lang="en-US" sz="14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27CC7C5-8AEB-A7FC-9FA7-CA5FCCFA9801}"/>
              </a:ext>
            </a:extLst>
          </p:cNvPr>
          <p:cNvSpPr/>
          <p:nvPr/>
        </p:nvSpPr>
        <p:spPr>
          <a:xfrm>
            <a:off x="6035040" y="2103120"/>
            <a:ext cx="5303520" cy="2639906"/>
          </a:xfrm>
          <a:prstGeom prst="roundRect">
            <a:avLst>
              <a:gd name="adj" fmla="val 2857"/>
            </a:avLst>
          </a:prstGeom>
          <a:solidFill>
            <a:srgbClr val="1E1E1E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6A313D8-0EFB-4896-5E18-9681F9046DCE}"/>
              </a:ext>
            </a:extLst>
          </p:cNvPr>
          <p:cNvSpPr/>
          <p:nvPr/>
        </p:nvSpPr>
        <p:spPr>
          <a:xfrm>
            <a:off x="6263640" y="2267712"/>
            <a:ext cx="4846320" cy="2359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// [</a:t>
            </a:r>
            <a:r>
              <a:rPr lang="en-US" sz="14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โค้ดที่แก้ไขถูกต้อง</a:t>
            </a: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]</a:t>
            </a:r>
            <a:endParaRPr lang="en-US" sz="1400">
              <a:latin typeface="Courier New"/>
              <a:cs typeface="Courier New"/>
            </a:endParaRPr>
          </a:p>
          <a:p>
            <a:pPr marL="0" indent="0">
              <a:lnSpc>
                <a:spcPct val="114999"/>
              </a:lnSpc>
              <a:buNone/>
            </a:pPr>
            <a:r>
              <a:rPr lang="en-US" sz="14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fn</a:t>
            </a: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 main() {</a:t>
            </a:r>
            <a:endParaRPr lang="en-US" sz="1400">
              <a:solidFill>
                <a:srgbClr val="D4D4D4"/>
              </a:solidFill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let condition = true;</a:t>
            </a:r>
            <a:endParaRPr lang="en-US" sz="1400">
              <a:solidFill>
                <a:srgbClr val="D4D4D4"/>
              </a:solidFill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 let result = if condition {</a:t>
            </a:r>
            <a:endParaRPr lang="en-US" sz="1400">
              <a:solidFill>
                <a:srgbClr val="D4D4D4"/>
              </a:solidFill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  10</a:t>
            </a:r>
            <a:endParaRPr lang="en-US" sz="1400">
              <a:solidFill>
                <a:srgbClr val="D4D4D4"/>
              </a:solidFill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} else {</a:t>
            </a:r>
            <a:endParaRPr lang="en-US" sz="1400">
              <a:solidFill>
                <a:srgbClr val="D4D4D4"/>
              </a:solidFill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  20</a:t>
            </a:r>
            <a:endParaRPr lang="en-US" sz="1400">
              <a:solidFill>
                <a:srgbClr val="D4D4D4"/>
              </a:solidFill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};</a:t>
            </a:r>
            <a:endParaRPr lang="en-US" sz="1400">
              <a:solidFill>
                <a:srgbClr val="D4D4D4"/>
              </a:solidFill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}</a:t>
            </a:r>
          </a:p>
          <a:p>
            <a:pPr marL="0" indent="0">
              <a:lnSpc>
                <a:spcPct val="114999"/>
              </a:lnSpc>
              <a:buNone/>
            </a:pPr>
            <a:endParaRPr lang="en-US" sz="1400">
              <a:solidFill>
                <a:srgbClr val="D4D4D4"/>
              </a:solidFill>
              <a:latin typeface="Courier New"/>
              <a:cs typeface="Courier New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0A56E90-47B4-1E19-5A34-1606AEE16D0C}"/>
              </a:ext>
            </a:extLst>
          </p:cNvPr>
          <p:cNvSpPr/>
          <p:nvPr/>
        </p:nvSpPr>
        <p:spPr>
          <a:xfrm>
            <a:off x="451152" y="4874865"/>
            <a:ext cx="11274552" cy="1463040"/>
          </a:xfrm>
          <a:prstGeom prst="roundRect">
            <a:avLst>
              <a:gd name="adj" fmla="val 5000"/>
            </a:avLst>
          </a:prstGeom>
          <a:solidFill>
            <a:srgbClr val="F7F0F0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15C4B1E-5F61-03ED-C9DD-18DEC56C27A5}"/>
              </a:ext>
            </a:extLst>
          </p:cNvPr>
          <p:cNvSpPr/>
          <p:nvPr/>
        </p:nvSpPr>
        <p:spPr>
          <a:xfrm>
            <a:off x="679752" y="5012025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ทำไมถึงผิด? (Why?)</a:t>
            </a:r>
            <a:endParaRPr lang="en-US" sz="1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54895B5-970C-2516-6D9F-136B15C94943}"/>
              </a:ext>
            </a:extLst>
          </p:cNvPr>
          <p:cNvSpPr/>
          <p:nvPr/>
        </p:nvSpPr>
        <p:spPr>
          <a:xfrm>
            <a:off x="689912" y="5316825"/>
            <a:ext cx="10969752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/>
              <a:buChar char="Ø"/>
            </a:pPr>
            <a:r>
              <a:rPr lang="en-US" sz="1400" b="1" err="1">
                <a:solidFill>
                  <a:srgbClr val="222222"/>
                </a:solidFill>
                <a:ea typeface="+mn-lt"/>
                <a:cs typeface="+mn-lt"/>
              </a:rPr>
              <a:t>สาเหตุ</a:t>
            </a:r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: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แต่ละ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branch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ของ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`if`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คืนค่าคนละ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type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ทำให้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Rust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ไม่สามารถกำหนด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type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เดียวให้กับผลลัพธ์ของ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`if`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ได้</a:t>
            </a:r>
            <a:endParaRPr lang="en-US" sz="1200" err="1">
              <a:solidFill>
                <a:srgbClr val="222222"/>
              </a:solidFill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n-US" sz="1400" b="1" err="1">
                <a:solidFill>
                  <a:srgbClr val="222222"/>
                </a:solidFill>
                <a:ea typeface="+mn-lt"/>
                <a:cs typeface="+mn-lt"/>
              </a:rPr>
              <a:t>หลักการของ</a:t>
            </a:r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 Rust </a:t>
            </a:r>
            <a:r>
              <a:rPr lang="en-US" sz="1400" b="1" err="1">
                <a:solidFill>
                  <a:srgbClr val="222222"/>
                </a:solidFill>
                <a:ea typeface="+mn-lt"/>
                <a:cs typeface="+mn-lt"/>
              </a:rPr>
              <a:t>ที่เกี่ยวข้อง</a:t>
            </a:r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: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 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`if`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ใน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Rust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เป็น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expression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ดังนั้นค่าจากทุก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branch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ต้องมี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type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เดียวกันหรือเข้ากันได้</a:t>
            </a:r>
            <a:endParaRPr lang="en-US" sz="120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D53DFA1-5459-8AFD-C852-7E83F58EF49F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A971AA8-2557-52C3-B6F4-6699B568E7C8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1EBD237-1EB4-97D4-153B-A92632294D58}"/>
              </a:ext>
            </a:extLst>
          </p:cNvPr>
          <p:cNvSpPr/>
          <p:nvPr/>
        </p:nvSpPr>
        <p:spPr>
          <a:xfrm>
            <a:off x="690880" y="1193799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err="1">
                <a:solidFill>
                  <a:srgbClr val="C85B11"/>
                </a:solidFill>
                <a:latin typeface="Cambria"/>
                <a:ea typeface="Cambria"/>
              </a:rPr>
              <a:t>ให้ค่าจาก</a:t>
            </a:r>
            <a:r>
              <a:rPr lang="en-US" sz="1400" b="1">
                <a:solidFill>
                  <a:srgbClr val="C85B11"/>
                </a:solidFill>
                <a:latin typeface="Cambria"/>
                <a:ea typeface="Cambria"/>
              </a:rPr>
              <a:t> if </a:t>
            </a:r>
            <a:r>
              <a:rPr lang="en-US" sz="1400" b="1" err="1">
                <a:solidFill>
                  <a:srgbClr val="C85B11"/>
                </a:solidFill>
                <a:latin typeface="Cambria"/>
                <a:ea typeface="Cambria"/>
              </a:rPr>
              <a:t>แต่ละ</a:t>
            </a:r>
            <a:r>
              <a:rPr lang="en-US" sz="1400" b="1">
                <a:solidFill>
                  <a:srgbClr val="C85B11"/>
                </a:solidFill>
                <a:latin typeface="Cambria"/>
                <a:ea typeface="Cambria"/>
              </a:rPr>
              <a:t> branch </a:t>
            </a:r>
            <a:r>
              <a:rPr lang="en-US" sz="1400" b="1" err="1">
                <a:solidFill>
                  <a:srgbClr val="C85B11"/>
                </a:solidFill>
                <a:latin typeface="Cambria"/>
                <a:ea typeface="Cambria"/>
              </a:rPr>
              <a:t>เป็นคนละชนิด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40093619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6625D-4EF8-D9FF-01A7-75C84D55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135EB60-B851-5802-DA09-1C33262E817A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F7681E-A048-5E37-54DB-A07B63424B9A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D06E45-A309-065B-9E08-090278844DC1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22222"/>
                </a:solidFill>
                <a:latin typeface="Cambria"/>
                <a:ea typeface="Cambria"/>
              </a:rPr>
              <a:t>Exercise </a:t>
            </a: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— Statement </a:t>
            </a:r>
            <a:r>
              <a:rPr lang="en-US" sz="3000" b="1" err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หรือ</a:t>
            </a: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 Expression</a:t>
            </a:r>
            <a:endParaRPr lang="en-US" sz="3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6680D4B-4DE4-925A-F971-D531FAFF3AD4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EF411F9-47B4-7178-EC37-C37C64F9BF76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23718B95-1F72-DBD8-53F3-3E37D0CA0A3A}"/>
              </a:ext>
            </a:extLst>
          </p:cNvPr>
          <p:cNvSpPr/>
          <p:nvPr/>
        </p:nvSpPr>
        <p:spPr>
          <a:xfrm>
            <a:off x="5864981" y="60621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300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4224D325-E350-BDE3-A154-E68C487FCE40}"/>
              </a:ext>
            </a:extLst>
          </p:cNvPr>
          <p:cNvSpPr/>
          <p:nvPr/>
        </p:nvSpPr>
        <p:spPr>
          <a:xfrm>
            <a:off x="757404" y="1989182"/>
            <a:ext cx="4821500" cy="3013929"/>
          </a:xfrm>
          <a:prstGeom prst="roundRect">
            <a:avLst>
              <a:gd name="adj" fmla="val 3721"/>
            </a:avLst>
          </a:prstGeom>
          <a:solidFill>
            <a:srgbClr val="F7F0F0"/>
          </a:solidFill>
          <a:ln/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02398B8C-7890-85E0-D09D-7BF7D5864C97}"/>
              </a:ext>
            </a:extLst>
          </p:cNvPr>
          <p:cNvSpPr/>
          <p:nvPr/>
        </p:nvSpPr>
        <p:spPr>
          <a:xfrm>
            <a:off x="1031724" y="2192382"/>
            <a:ext cx="25555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โจทย์ (Problem)</a:t>
            </a:r>
            <a:endParaRPr lang="en-US" sz="150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4767F0C1-4917-596B-E6DA-2647063DCA90}"/>
              </a:ext>
            </a:extLst>
          </p:cNvPr>
          <p:cNvSpPr/>
          <p:nvPr/>
        </p:nvSpPr>
        <p:spPr>
          <a:xfrm>
            <a:off x="1031724" y="2603862"/>
            <a:ext cx="4455497" cy="119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จง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ระบุ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ว่าแต่ละบรรทัดเป็น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Statement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หรือ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Expression</a:t>
            </a:r>
            <a:endParaRPr lang="en-US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4B34A75C-09AD-EEEC-6AB0-07AE29F16090}"/>
              </a:ext>
            </a:extLst>
          </p:cNvPr>
          <p:cNvSpPr/>
          <p:nvPr/>
        </p:nvSpPr>
        <p:spPr>
          <a:xfrm>
            <a:off x="1136801" y="3101462"/>
            <a:ext cx="3881679" cy="1360243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46DF325E-0F41-E40A-496D-8654FFB83A35}"/>
              </a:ext>
            </a:extLst>
          </p:cNvPr>
          <p:cNvSpPr/>
          <p:nvPr/>
        </p:nvSpPr>
        <p:spPr>
          <a:xfrm>
            <a:off x="1416595" y="3347091"/>
            <a:ext cx="3601236" cy="1059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1 : let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x = 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10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;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2 : x + 5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3 : x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+ 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5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;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4 : if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x 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&gt; 5 {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1 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 else {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0 }</a:t>
            </a:r>
            <a:endParaRPr lang="en-US" sz="1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11019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DBD7AD-BE9B-A478-3BA3-62B615371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5CDD66-6899-7B73-9836-87FF96F06BB1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881413-8FEE-F893-56BC-5E49940FCD44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E08BD0-89A2-D4D9-ABD7-78D0BB613B1F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22222"/>
                </a:solidFill>
                <a:latin typeface="Cambria"/>
                <a:ea typeface="Cambria"/>
              </a:rPr>
              <a:t>Exercise </a:t>
            </a: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— Statement </a:t>
            </a:r>
            <a:r>
              <a:rPr lang="en-US" sz="3000" b="1" err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หรือ</a:t>
            </a: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 Expression</a:t>
            </a:r>
            <a:endParaRPr lang="en-US" sz="3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BD23633-8A21-E185-7553-003DA97BA47C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F4AF063-B11C-4A93-D517-432E7A3A3B78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AEACA5E0-37EE-AB9A-6925-4ED47BFAFE3C}"/>
              </a:ext>
            </a:extLst>
          </p:cNvPr>
          <p:cNvSpPr/>
          <p:nvPr/>
        </p:nvSpPr>
        <p:spPr>
          <a:xfrm>
            <a:off x="5864981" y="60621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300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F04809A-78F5-1C87-2EE7-FDA569B44EA6}"/>
              </a:ext>
            </a:extLst>
          </p:cNvPr>
          <p:cNvSpPr/>
          <p:nvPr/>
        </p:nvSpPr>
        <p:spPr>
          <a:xfrm>
            <a:off x="5828695" y="2145453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sz="130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C9B6CBC4-0079-F125-B68F-A8DC45317B2D}"/>
              </a:ext>
            </a:extLst>
          </p:cNvPr>
          <p:cNvSpPr/>
          <p:nvPr/>
        </p:nvSpPr>
        <p:spPr>
          <a:xfrm>
            <a:off x="5828695" y="2511213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Expression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สร้างค่า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ส่วน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statement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ใช้ทำงานบางอย่างและมักจบด้วย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;</a:t>
            </a:r>
            <a:endParaRPr lang="en-US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F961D55A-7FC2-7C99-A37E-B86FCAE42241}"/>
              </a:ext>
            </a:extLst>
          </p:cNvPr>
          <p:cNvSpPr/>
          <p:nvPr/>
        </p:nvSpPr>
        <p:spPr>
          <a:xfrm>
            <a:off x="757404" y="1989182"/>
            <a:ext cx="4821500" cy="3013929"/>
          </a:xfrm>
          <a:prstGeom prst="roundRect">
            <a:avLst>
              <a:gd name="adj" fmla="val 3721"/>
            </a:avLst>
          </a:prstGeom>
          <a:solidFill>
            <a:srgbClr val="F7F0F0"/>
          </a:solidFill>
          <a:ln/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F79DC4F-FCF5-9E89-C454-454E73ED1E0C}"/>
              </a:ext>
            </a:extLst>
          </p:cNvPr>
          <p:cNvSpPr/>
          <p:nvPr/>
        </p:nvSpPr>
        <p:spPr>
          <a:xfrm>
            <a:off x="1031724" y="2192382"/>
            <a:ext cx="25555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โจทย์ (Problem)</a:t>
            </a:r>
            <a:endParaRPr lang="en-US" sz="150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786664CE-AE5A-4D17-72BC-82D25E8F493E}"/>
              </a:ext>
            </a:extLst>
          </p:cNvPr>
          <p:cNvSpPr/>
          <p:nvPr/>
        </p:nvSpPr>
        <p:spPr>
          <a:xfrm>
            <a:off x="1031724" y="2603862"/>
            <a:ext cx="4455497" cy="119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จง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ระบุ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ว่าแต่ละบรรทัดเป็น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Statement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หรือ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Expression</a:t>
            </a:r>
            <a:endParaRPr lang="en-US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8918A0C3-21CD-6D36-55BC-83AA564B3F26}"/>
              </a:ext>
            </a:extLst>
          </p:cNvPr>
          <p:cNvSpPr/>
          <p:nvPr/>
        </p:nvSpPr>
        <p:spPr>
          <a:xfrm>
            <a:off x="1136801" y="3101462"/>
            <a:ext cx="3881679" cy="1360243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DBFB7595-D02D-496B-9633-580FB9911662}"/>
              </a:ext>
            </a:extLst>
          </p:cNvPr>
          <p:cNvSpPr/>
          <p:nvPr/>
        </p:nvSpPr>
        <p:spPr>
          <a:xfrm>
            <a:off x="1416595" y="3347091"/>
            <a:ext cx="3601236" cy="1059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1 : let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x = 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10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;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2 : x + 5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3 : x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+ 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5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;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4 : if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x 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&gt; 5 {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1 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 else {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0 }</a:t>
            </a:r>
            <a:endParaRPr lang="en-US" sz="1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07585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B08CC1-DA14-3A9D-7016-39CEDC162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D49B046-68CD-2ED6-EBC1-6B98BCC3140A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4118C2-22E6-27B4-C4CD-5C449F3D0F70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E707C4-E238-99EE-4E3F-F6591CB0C403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22222"/>
                </a:solidFill>
                <a:latin typeface="Cambria"/>
                <a:ea typeface="Cambria"/>
              </a:rPr>
              <a:t>Exercise </a:t>
            </a: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— Statement </a:t>
            </a:r>
            <a:r>
              <a:rPr lang="en-US" sz="3000" b="1" err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หรือ</a:t>
            </a: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 Expression</a:t>
            </a:r>
            <a:endParaRPr lang="en-US" sz="3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146C0E9-246E-6C8F-92DE-6AEBF805EBCE}"/>
              </a:ext>
            </a:extLst>
          </p:cNvPr>
          <p:cNvSpPr/>
          <p:nvPr/>
        </p:nvSpPr>
        <p:spPr>
          <a:xfrm>
            <a:off x="5773782" y="3206983"/>
            <a:ext cx="5757091" cy="1984764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F0AEB10-ABAA-0675-F4C0-C148EFFD8F39}"/>
              </a:ext>
            </a:extLst>
          </p:cNvPr>
          <p:cNvSpPr/>
          <p:nvPr/>
        </p:nvSpPr>
        <p:spPr>
          <a:xfrm>
            <a:off x="6122062" y="3308552"/>
            <a:ext cx="1156636" cy="269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4999"/>
              </a:lnSpc>
            </a:pPr>
            <a:r>
              <a:rPr lang="en-US" sz="1300">
                <a:solidFill>
                  <a:srgbClr val="D4D4D4"/>
                </a:solidFill>
                <a:latin typeface="Courier New"/>
                <a:cs typeface="Courier New"/>
              </a:rPr>
              <a:t>// Solution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AC49798-A78F-9506-250F-1ADC7038A881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BD783FF-FC9A-7375-A904-DF770FD84A60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7952C4CE-20EE-59CB-64DD-1961DD12E34E}"/>
              </a:ext>
            </a:extLst>
          </p:cNvPr>
          <p:cNvSpPr/>
          <p:nvPr/>
        </p:nvSpPr>
        <p:spPr>
          <a:xfrm>
            <a:off x="5967788" y="3726783"/>
            <a:ext cx="5757093" cy="1349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err="1">
                <a:solidFill>
                  <a:schemeClr val="accent6">
                    <a:lumMod val="76000"/>
                  </a:schemeClr>
                </a:solidFill>
                <a:ea typeface="Calibri"/>
                <a:cs typeface="Calibri"/>
              </a:rPr>
              <a:t>ตอบ</a:t>
            </a:r>
            <a:r>
              <a:rPr lang="en-US" sz="1300" b="1">
                <a:solidFill>
                  <a:schemeClr val="accent6">
                    <a:lumMod val="76000"/>
                  </a:schemeClr>
                </a:solidFill>
                <a:ea typeface="Calibri"/>
                <a:cs typeface="Calibri"/>
              </a:rPr>
              <a:t> </a:t>
            </a:r>
            <a:endParaRPr lang="en-US" sz="1200" b="1">
              <a:solidFill>
                <a:schemeClr val="accent6">
                  <a:lumMod val="76000"/>
                </a:schemeClr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>
                <a:solidFill>
                  <a:srgbClr val="FF8787"/>
                </a:solidFill>
                <a:latin typeface="Consolas"/>
                <a:ea typeface="Calibri"/>
                <a:cs typeface="Calibri"/>
              </a:rPr>
              <a:t>let x = 10;                  -&gt; Statement
x + 5                       -&gt; Expression
x + 5;                      -&gt; </a:t>
            </a:r>
            <a:r>
              <a:rPr lang="en-US" sz="1400">
                <a:solidFill>
                  <a:srgbClr val="FF8787"/>
                </a:solidFill>
                <a:latin typeface="Consolas"/>
                <a:ea typeface="+mn-lt"/>
                <a:cs typeface="+mn-lt"/>
              </a:rPr>
              <a:t>Expression</a:t>
            </a:r>
            <a:r>
              <a:rPr lang="en-US" sz="1400">
                <a:solidFill>
                  <a:srgbClr val="FF8787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FF8787"/>
                </a:solidFill>
                <a:latin typeface="Consolas"/>
                <a:ea typeface="+mn-lt"/>
                <a:cs typeface="+mn-lt"/>
              </a:rPr>
              <a:t>ที่ถูกใช้เป็น</a:t>
            </a:r>
            <a:r>
              <a:rPr lang="en-US" sz="1400">
                <a:solidFill>
                  <a:srgbClr val="FF8787"/>
                </a:solidFill>
                <a:latin typeface="Consolas"/>
                <a:ea typeface="+mn-lt"/>
                <a:cs typeface="+mn-lt"/>
              </a:rPr>
              <a:t> statement
</a:t>
            </a:r>
            <a:r>
              <a:rPr lang="en-US" sz="1400">
                <a:solidFill>
                  <a:srgbClr val="FF8787"/>
                </a:solidFill>
                <a:latin typeface="Consolas"/>
                <a:ea typeface="Calibri"/>
                <a:cs typeface="Calibri"/>
              </a:rPr>
              <a:t>if</a:t>
            </a:r>
            <a:r>
              <a:rPr lang="en-US" sz="1400">
                <a:solidFill>
                  <a:srgbClr val="FF8787"/>
                </a:solidFill>
                <a:latin typeface="Consolas"/>
                <a:ea typeface="+mn-lt"/>
                <a:cs typeface="+mn-lt"/>
              </a:rPr>
              <a:t> x &gt; 5 { 1 } else { 0 }   -&gt; Expression</a:t>
            </a:r>
            <a:endParaRPr lang="en-US" sz="1400" b="1">
              <a:solidFill>
                <a:srgbClr val="FF8787"/>
              </a:solidFill>
              <a:ea typeface="+mn-lt"/>
              <a:cs typeface="+mn-l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61C2FEE2-E89F-153B-ADFA-319195A344EB}"/>
              </a:ext>
            </a:extLst>
          </p:cNvPr>
          <p:cNvSpPr/>
          <p:nvPr/>
        </p:nvSpPr>
        <p:spPr>
          <a:xfrm>
            <a:off x="5864981" y="60621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300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9634459D-D884-CB4A-5A1A-44186A7998C5}"/>
              </a:ext>
            </a:extLst>
          </p:cNvPr>
          <p:cNvSpPr/>
          <p:nvPr/>
        </p:nvSpPr>
        <p:spPr>
          <a:xfrm>
            <a:off x="5828695" y="2145453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sz="130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8126CBB-CFD2-11FF-99F4-892F87D9A68C}"/>
              </a:ext>
            </a:extLst>
          </p:cNvPr>
          <p:cNvSpPr/>
          <p:nvPr/>
        </p:nvSpPr>
        <p:spPr>
          <a:xfrm>
            <a:off x="5828695" y="2511213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Expression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สร้างค่า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ส่วน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statement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ใช้ทำงานบางอย่างและมักจบด้วย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;</a:t>
            </a:r>
            <a:endParaRPr lang="en-US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7F020454-6718-E8F5-33FC-B3880F32EB36}"/>
              </a:ext>
            </a:extLst>
          </p:cNvPr>
          <p:cNvSpPr/>
          <p:nvPr/>
        </p:nvSpPr>
        <p:spPr>
          <a:xfrm>
            <a:off x="757404" y="1989182"/>
            <a:ext cx="4821500" cy="3013929"/>
          </a:xfrm>
          <a:prstGeom prst="roundRect">
            <a:avLst>
              <a:gd name="adj" fmla="val 3721"/>
            </a:avLst>
          </a:prstGeom>
          <a:solidFill>
            <a:srgbClr val="F7F0F0"/>
          </a:solidFill>
          <a:ln/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A1EB574C-859E-C96B-3DFA-FD31F15609FE}"/>
              </a:ext>
            </a:extLst>
          </p:cNvPr>
          <p:cNvSpPr/>
          <p:nvPr/>
        </p:nvSpPr>
        <p:spPr>
          <a:xfrm>
            <a:off x="1031724" y="2192382"/>
            <a:ext cx="25555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โจทย์ (Problem)</a:t>
            </a:r>
            <a:endParaRPr lang="en-US" sz="150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E1909E14-C850-5BB9-4A76-F33A0B487724}"/>
              </a:ext>
            </a:extLst>
          </p:cNvPr>
          <p:cNvSpPr/>
          <p:nvPr/>
        </p:nvSpPr>
        <p:spPr>
          <a:xfrm>
            <a:off x="1031724" y="2603862"/>
            <a:ext cx="4455497" cy="119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จง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ระบุ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ว่าแต่ละบรรทัดเป็น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Statement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หรือ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Expression</a:t>
            </a:r>
            <a:endParaRPr lang="en-US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062A1AE9-6347-1307-5BED-2E9B2D44EE03}"/>
              </a:ext>
            </a:extLst>
          </p:cNvPr>
          <p:cNvSpPr/>
          <p:nvPr/>
        </p:nvSpPr>
        <p:spPr>
          <a:xfrm>
            <a:off x="1136801" y="3101462"/>
            <a:ext cx="3881679" cy="1360243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78922BA3-83D6-5940-F563-6392A8142B04}"/>
              </a:ext>
            </a:extLst>
          </p:cNvPr>
          <p:cNvSpPr/>
          <p:nvPr/>
        </p:nvSpPr>
        <p:spPr>
          <a:xfrm>
            <a:off x="1416595" y="3347091"/>
            <a:ext cx="3601236" cy="1059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1 : let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x = 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10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;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2 : x + 5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3 : x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+ 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5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;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4 : if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x 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&gt; 5 {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1 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 else {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0 }</a:t>
            </a:r>
            <a:endParaRPr lang="en-US" sz="1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6176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— คำถามท้าทายผู้ฟัง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1452880" y="1717040"/>
            <a:ext cx="4132072" cy="4725405"/>
          </a:xfrm>
          <a:prstGeom prst="roundRect">
            <a:avLst>
              <a:gd name="adj" fmla="val 3721"/>
            </a:avLst>
          </a:prstGeom>
          <a:solidFill>
            <a:srgbClr val="F7F0F0"/>
          </a:solidFill>
          <a:ln/>
        </p:spPr>
      </p:sp>
      <p:sp>
        <p:nvSpPr>
          <p:cNvPr id="6" name="Text 4"/>
          <p:cNvSpPr/>
          <p:nvPr/>
        </p:nvSpPr>
        <p:spPr>
          <a:xfrm>
            <a:off x="1727200" y="1920240"/>
            <a:ext cx="25555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โจทย์ (Problem)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1727200" y="2331720"/>
            <a:ext cx="3741878" cy="119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1.result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มีค่าเท่าไร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endParaRPr lang="en-US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2.if ... else ... .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ในโค้ตที่แนบให้เป็น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Statement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หรือ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Expression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endParaRPr lang="en-US" err="1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3.ถ้าเติม ;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หลัง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if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ทั้งก้อน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จะเกิดอะไรขึ้น</a:t>
            </a:r>
            <a:endParaRPr lang="en-US">
              <a:ea typeface="Calibri"/>
              <a:cs typeface="Calibri"/>
            </a:endParaRPr>
          </a:p>
          <a:p>
            <a:endParaRPr lang="en-US" sz="1400">
              <a:solidFill>
                <a:srgbClr val="222222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400">
              <a:solidFill>
                <a:srgbClr val="222222"/>
              </a:solidFill>
              <a:ea typeface="Calibri"/>
              <a:cs typeface="Calibri"/>
            </a:endParaRPr>
          </a:p>
          <a:p>
            <a:endParaRPr lang="en-US" sz="1400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B7FA2C8A-3A2A-4E13-8A80-430EF2D1C483}"/>
              </a:ext>
            </a:extLst>
          </p:cNvPr>
          <p:cNvSpPr/>
          <p:nvPr/>
        </p:nvSpPr>
        <p:spPr>
          <a:xfrm>
            <a:off x="1850419" y="3319175"/>
            <a:ext cx="3252727" cy="2999148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69A86819-77D7-67C1-A35E-AD3B0227596F}"/>
              </a:ext>
            </a:extLst>
          </p:cNvPr>
          <p:cNvSpPr/>
          <p:nvPr/>
        </p:nvSpPr>
        <p:spPr>
          <a:xfrm>
            <a:off x="2106023" y="3522472"/>
            <a:ext cx="3069046" cy="2794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fn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main(){</a:t>
            </a:r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let x = 4;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let result = {</a:t>
            </a:r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let y = x + 2;</a:t>
            </a:r>
            <a:endParaRPr lang="en-US"/>
          </a:p>
          <a:p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if y &gt; 5 {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y * 2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 else {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y - 1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</a:t>
            </a:r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};</a:t>
            </a:r>
            <a:endParaRPr lang="en-US"/>
          </a:p>
          <a:p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 </a:t>
            </a:r>
            <a:r>
              <a:rPr lang="en-US" sz="1000" b="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println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!("{}",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result);</a:t>
            </a:r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Calibri"/>
                <a:cs typeface="Calibri"/>
              </a:rP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F0E3B6-04A3-E4C7-CC92-6EC99694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EFEE12D-8D63-FAA4-21E9-F33DE6D84CE9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22545D-2410-984E-83D7-58A4FF945BAB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A5375F-37DB-984E-DAF8-FA278B375A00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— คำถามท้าทายผู้ฟัง</a:t>
            </a:r>
            <a:endParaRPr lang="en-US" sz="3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898FA8E-28F8-2CE9-EE5D-410B1FCCD5EF}"/>
              </a:ext>
            </a:extLst>
          </p:cNvPr>
          <p:cNvSpPr/>
          <p:nvPr/>
        </p:nvSpPr>
        <p:spPr>
          <a:xfrm>
            <a:off x="5943600" y="1849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1F0C930-585C-DD2A-3F90-BD4D845E0E44}"/>
              </a:ext>
            </a:extLst>
          </p:cNvPr>
          <p:cNvSpPr/>
          <p:nvPr/>
        </p:nvSpPr>
        <p:spPr>
          <a:xfrm>
            <a:off x="5943600" y="22148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   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ลองไล่ค่าจากด้านในออกมาด้านนอก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โดยดูว่า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`y`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มีค่าเท่าไร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จากนั้นพิจารณาว่า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branch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ไหนของ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`if`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จะถูกเลือก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และ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expression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สุดท้ายของ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block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คืออะไร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
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ถ้ามี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`;`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ต่อท้าย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`if`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ทั้งก้อน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ลองคิดว่าค่าของ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block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ด้านนอกจะยังเป็นตัวเลขอยู่หรือไม่</a:t>
            </a:r>
            <a:endParaRPr lang="en-US">
              <a:latin typeface="Consola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0FE9D68-947A-BE37-9064-4359661CBBEB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3BFB7DE-6C2C-417F-4C05-C46DE8F428DE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48ABB50-521B-D9BC-D1F8-DA6349A25D96}"/>
              </a:ext>
            </a:extLst>
          </p:cNvPr>
          <p:cNvSpPr/>
          <p:nvPr/>
        </p:nvSpPr>
        <p:spPr>
          <a:xfrm>
            <a:off x="1452880" y="1717040"/>
            <a:ext cx="4132072" cy="4725405"/>
          </a:xfrm>
          <a:prstGeom prst="roundRect">
            <a:avLst>
              <a:gd name="adj" fmla="val 3721"/>
            </a:avLst>
          </a:prstGeom>
          <a:solidFill>
            <a:srgbClr val="F7F0F0"/>
          </a:solidFill>
          <a:ln/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EED7283-B031-1134-1C19-73DE6E134DA5}"/>
              </a:ext>
            </a:extLst>
          </p:cNvPr>
          <p:cNvSpPr/>
          <p:nvPr/>
        </p:nvSpPr>
        <p:spPr>
          <a:xfrm>
            <a:off x="1727200" y="1920240"/>
            <a:ext cx="25555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โจทย์ (Problem)</a:t>
            </a:r>
            <a:endParaRPr lang="en-US" sz="150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4D0FC84B-80BA-9D23-B55B-DC0317604E77}"/>
              </a:ext>
            </a:extLst>
          </p:cNvPr>
          <p:cNvSpPr/>
          <p:nvPr/>
        </p:nvSpPr>
        <p:spPr>
          <a:xfrm>
            <a:off x="1727200" y="2331720"/>
            <a:ext cx="3741878" cy="119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1.result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มีค่าเท่าไร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endParaRPr lang="en-US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2.if ... else ... .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ในโค้ตที่แนบให้เป็น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Statement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หรือ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Expression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endParaRPr lang="en-US" err="1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3.ถ้าเติม ;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หลัง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if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ทั้งก้อน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จะเกิดอะไรขึ้น</a:t>
            </a:r>
            <a:endParaRPr lang="en-US">
              <a:ea typeface="Calibri"/>
              <a:cs typeface="Calibri"/>
            </a:endParaRPr>
          </a:p>
          <a:p>
            <a:endParaRPr lang="en-US" sz="1400">
              <a:solidFill>
                <a:srgbClr val="222222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400">
              <a:solidFill>
                <a:srgbClr val="222222"/>
              </a:solidFill>
              <a:ea typeface="Calibri"/>
              <a:cs typeface="Calibri"/>
            </a:endParaRPr>
          </a:p>
          <a:p>
            <a:endParaRPr lang="en-US" sz="1400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D3430AC6-C2EB-1E58-0039-9873DE884F13}"/>
              </a:ext>
            </a:extLst>
          </p:cNvPr>
          <p:cNvSpPr/>
          <p:nvPr/>
        </p:nvSpPr>
        <p:spPr>
          <a:xfrm>
            <a:off x="1850419" y="3319175"/>
            <a:ext cx="3252727" cy="2999148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F032F5D6-5E31-990C-5FAD-32E6CC1AAA30}"/>
              </a:ext>
            </a:extLst>
          </p:cNvPr>
          <p:cNvSpPr/>
          <p:nvPr/>
        </p:nvSpPr>
        <p:spPr>
          <a:xfrm>
            <a:off x="2106023" y="3522472"/>
            <a:ext cx="3069046" cy="2794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fn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main(){</a:t>
            </a:r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let x = 4;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let result = {</a:t>
            </a:r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let y = x + 2;</a:t>
            </a:r>
            <a:endParaRPr lang="en-US"/>
          </a:p>
          <a:p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if y &gt; 5 {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y * 2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 else {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y - 1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</a:t>
            </a:r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};</a:t>
            </a:r>
            <a:endParaRPr lang="en-US"/>
          </a:p>
          <a:p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 </a:t>
            </a:r>
            <a:r>
              <a:rPr lang="en-US" sz="1000" b="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println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!("{}",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result);</a:t>
            </a:r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Calibri"/>
                <a:cs typeface="Calibri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592916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38DEBC-609F-7AFB-8F1C-FCFBA92BC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F081F5C-4056-91E1-A20F-4119EEBE21C1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37AA52-D7E3-EF9F-FD00-08955F3796B1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31BA7C-EEA1-DAC9-B5DE-693EDFAC7EAD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— คำถามท้าทายผู้ฟัง</a:t>
            </a:r>
            <a:endParaRPr lang="en-US" sz="3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B295DCA-EB5F-07D9-9D68-22C4562060A7}"/>
              </a:ext>
            </a:extLst>
          </p:cNvPr>
          <p:cNvSpPr/>
          <p:nvPr/>
        </p:nvSpPr>
        <p:spPr>
          <a:xfrm>
            <a:off x="5822164" y="3430745"/>
            <a:ext cx="5974805" cy="1295337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E8D83BD-DDCE-E8ED-BD98-6B94803463A1}"/>
              </a:ext>
            </a:extLst>
          </p:cNvPr>
          <p:cNvSpPr/>
          <p:nvPr/>
        </p:nvSpPr>
        <p:spPr>
          <a:xfrm>
            <a:off x="5976920" y="3526267"/>
            <a:ext cx="1156636" cy="269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4999"/>
              </a:lnSpc>
            </a:pPr>
            <a:r>
              <a:rPr lang="en-US" sz="1300">
                <a:solidFill>
                  <a:srgbClr val="D4D4D4"/>
                </a:solidFill>
                <a:latin typeface="Courier New"/>
                <a:cs typeface="Courier New"/>
              </a:rPr>
              <a:t>// Solution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83AE257-3B6F-67E5-BCAF-F32BD9C9808F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3261D39-0D00-7368-38FB-DD9457F2E792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1275271B-B3D4-AB47-52BA-755B8C2F1773}"/>
              </a:ext>
            </a:extLst>
          </p:cNvPr>
          <p:cNvSpPr/>
          <p:nvPr/>
        </p:nvSpPr>
        <p:spPr>
          <a:xfrm>
            <a:off x="6046409" y="3944498"/>
            <a:ext cx="5751044" cy="829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err="1">
                <a:solidFill>
                  <a:schemeClr val="accent6">
                    <a:lumMod val="76000"/>
                  </a:schemeClr>
                </a:solidFill>
                <a:ea typeface="Calibri"/>
                <a:cs typeface="Calibri"/>
              </a:rPr>
              <a:t>ตอบ</a:t>
            </a:r>
            <a:r>
              <a:rPr lang="en-US" sz="1300" b="1">
                <a:solidFill>
                  <a:schemeClr val="accent6">
                    <a:lumMod val="76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1200" b="1">
                <a:solidFill>
                  <a:srgbClr val="FF8787"/>
                </a:solidFill>
                <a:latin typeface="Calibri"/>
                <a:ea typeface="Calibri"/>
                <a:cs typeface="Calibri"/>
              </a:rPr>
              <a:t>result = 12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FF8787"/>
                </a:solidFill>
                <a:ea typeface="+mn-lt"/>
                <a:cs typeface="+mn-lt"/>
              </a:rPr>
              <a:t>และ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</a:t>
            </a:r>
            <a:r>
              <a:rPr lang="en-US" sz="1200" b="1">
                <a:solidFill>
                  <a:srgbClr val="FF8787"/>
                </a:solidFill>
                <a:latin typeface="Calibri"/>
                <a:ea typeface="Calibri"/>
                <a:cs typeface="Calibri"/>
              </a:rPr>
              <a:t>if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FF8787"/>
                </a:solidFill>
                <a:ea typeface="+mn-lt"/>
                <a:cs typeface="+mn-lt"/>
              </a:rPr>
              <a:t>เป็น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expression </a:t>
            </a:r>
            <a:r>
              <a:rPr lang="en-US" sz="1200" b="1" err="1">
                <a:solidFill>
                  <a:srgbClr val="FF8787"/>
                </a:solidFill>
                <a:ea typeface="+mn-lt"/>
                <a:cs typeface="+mn-lt"/>
              </a:rPr>
              <a:t>ส่วนถ้าเติม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</a:t>
            </a:r>
            <a:r>
              <a:rPr lang="en-US" sz="1200" b="1">
                <a:solidFill>
                  <a:srgbClr val="FF8787"/>
                </a:solidFill>
                <a:latin typeface="Calibri"/>
                <a:ea typeface="Calibri"/>
                <a:cs typeface="Calibri"/>
              </a:rPr>
              <a:t>;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FF8787"/>
                </a:solidFill>
                <a:ea typeface="+mn-lt"/>
                <a:cs typeface="+mn-lt"/>
              </a:rPr>
              <a:t>หลัง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</a:t>
            </a:r>
            <a:r>
              <a:rPr lang="en-US" sz="1200" b="1">
                <a:solidFill>
                  <a:srgbClr val="FF8787"/>
                </a:solidFill>
                <a:latin typeface="Calibri"/>
                <a:ea typeface="Calibri"/>
                <a:cs typeface="Calibri"/>
              </a:rPr>
              <a:t>if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block </a:t>
            </a:r>
            <a:r>
              <a:rPr lang="en-US" sz="1200" b="1" err="1">
                <a:solidFill>
                  <a:srgbClr val="FF8787"/>
                </a:solidFill>
                <a:ea typeface="+mn-lt"/>
                <a:cs typeface="+mn-lt"/>
              </a:rPr>
              <a:t>ด้านนอกจะได้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</a:t>
            </a:r>
            <a:r>
              <a:rPr lang="en-US" sz="1200" b="1">
                <a:solidFill>
                  <a:srgbClr val="FF8787"/>
                </a:solidFill>
                <a:latin typeface="Calibri"/>
                <a:ea typeface="Calibri"/>
                <a:cs typeface="Calibri"/>
              </a:rPr>
              <a:t>()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FF8787"/>
                </a:solidFill>
                <a:ea typeface="+mn-lt"/>
                <a:cs typeface="+mn-lt"/>
              </a:rPr>
              <a:t>แทน</a:t>
            </a:r>
            <a:endParaRPr lang="en-US" sz="1200" b="1">
              <a:solidFill>
                <a:srgbClr val="FF8787"/>
              </a:solidFill>
              <a:ea typeface="+mn-lt"/>
              <a:cs typeface="+mn-l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CC19E637-F432-54AC-C69F-3C52C734B389}"/>
              </a:ext>
            </a:extLst>
          </p:cNvPr>
          <p:cNvSpPr/>
          <p:nvPr/>
        </p:nvSpPr>
        <p:spPr>
          <a:xfrm>
            <a:off x="5864981" y="60621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300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D06A6051-7A53-5BBD-C27F-9FE386A80B33}"/>
              </a:ext>
            </a:extLst>
          </p:cNvPr>
          <p:cNvSpPr/>
          <p:nvPr/>
        </p:nvSpPr>
        <p:spPr>
          <a:xfrm>
            <a:off x="5943600" y="1849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sz="130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00766A4-4CFF-B343-6625-3F43362E0EFE}"/>
              </a:ext>
            </a:extLst>
          </p:cNvPr>
          <p:cNvSpPr/>
          <p:nvPr/>
        </p:nvSpPr>
        <p:spPr>
          <a:xfrm>
            <a:off x="5943600" y="22148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   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ลองไล่ค่าจากด้านในออกมาด้านนอก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โดยดูว่า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`y`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มีค่าเท่าไร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จากนั้นพิจารณาว่า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branch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ไหนของ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`if`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จะถูกเลือก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และ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expression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สุดท้ายของ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block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คืออะไร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
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ถ้ามี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`;`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ต่อท้าย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`if`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ทั้งก้อน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ลองคิดว่าค่าของ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block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ด้านนอกจะยังเป็นตัวเลขอยู่หรือไม่</a:t>
            </a:r>
            <a:endParaRPr lang="en-US">
              <a:latin typeface="Consolas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79ABEE14-AAE6-6BFD-2741-03588B575D16}"/>
              </a:ext>
            </a:extLst>
          </p:cNvPr>
          <p:cNvSpPr/>
          <p:nvPr/>
        </p:nvSpPr>
        <p:spPr>
          <a:xfrm>
            <a:off x="1452880" y="1717040"/>
            <a:ext cx="4132072" cy="4725405"/>
          </a:xfrm>
          <a:prstGeom prst="roundRect">
            <a:avLst>
              <a:gd name="adj" fmla="val 3721"/>
            </a:avLst>
          </a:prstGeom>
          <a:solidFill>
            <a:srgbClr val="F7F0F0"/>
          </a:solidFill>
          <a:ln/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DC2AD5E7-3872-142B-FF83-2F62E6326336}"/>
              </a:ext>
            </a:extLst>
          </p:cNvPr>
          <p:cNvSpPr/>
          <p:nvPr/>
        </p:nvSpPr>
        <p:spPr>
          <a:xfrm>
            <a:off x="1727200" y="1920240"/>
            <a:ext cx="25555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โจทย์ (Problem)</a:t>
            </a:r>
            <a:endParaRPr lang="en-US" sz="150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02322802-C72B-BCFE-40FE-A4C62E1AE402}"/>
              </a:ext>
            </a:extLst>
          </p:cNvPr>
          <p:cNvSpPr/>
          <p:nvPr/>
        </p:nvSpPr>
        <p:spPr>
          <a:xfrm>
            <a:off x="1727200" y="2331720"/>
            <a:ext cx="3741878" cy="119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1.result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มีค่าเท่าไร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endParaRPr lang="en-US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2.if ... else ... .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ในโค้ตที่แนบให้เป็น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Statement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หรือ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Expression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endParaRPr lang="en-US" err="1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3.ถ้าเติม ;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หลัง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if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ทั้งก้อน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จะเกิดอะไรขึ้น</a:t>
            </a:r>
            <a:endParaRPr lang="en-US">
              <a:ea typeface="Calibri"/>
              <a:cs typeface="Calibri"/>
            </a:endParaRPr>
          </a:p>
          <a:p>
            <a:endParaRPr lang="en-US" sz="1400">
              <a:solidFill>
                <a:srgbClr val="222222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400">
              <a:solidFill>
                <a:srgbClr val="222222"/>
              </a:solidFill>
              <a:ea typeface="Calibri"/>
              <a:cs typeface="Calibri"/>
            </a:endParaRPr>
          </a:p>
          <a:p>
            <a:endParaRPr lang="en-US" sz="1400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04200E44-E0B2-ABA7-4D15-079CF831036B}"/>
              </a:ext>
            </a:extLst>
          </p:cNvPr>
          <p:cNvSpPr/>
          <p:nvPr/>
        </p:nvSpPr>
        <p:spPr>
          <a:xfrm>
            <a:off x="1850419" y="3319175"/>
            <a:ext cx="3252727" cy="2999148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35E1932E-E92F-8AD7-DBAA-ECC7818CC45B}"/>
              </a:ext>
            </a:extLst>
          </p:cNvPr>
          <p:cNvSpPr/>
          <p:nvPr/>
        </p:nvSpPr>
        <p:spPr>
          <a:xfrm>
            <a:off x="2106023" y="3522472"/>
            <a:ext cx="3069046" cy="2794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fn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main(){</a:t>
            </a:r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let x = 4;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let result = {</a:t>
            </a:r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let y = x + 2;</a:t>
            </a:r>
            <a:endParaRPr lang="en-US"/>
          </a:p>
          <a:p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if y &gt; 5 {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y * 2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 else {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y - 1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</a:t>
            </a:r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};</a:t>
            </a:r>
            <a:endParaRPr lang="en-US"/>
          </a:p>
          <a:p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 </a:t>
            </a:r>
            <a:r>
              <a:rPr lang="en-US" sz="1000" b="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println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!("{}",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result);</a:t>
            </a:r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Calibri"/>
                <a:cs typeface="Calibri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80790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— สรุปสิ่งที่ควรจำ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1143000" y="178308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Statement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→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ทำงาน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แต่ไม่คืนค่า</a:t>
            </a:r>
            <a:endParaRPr lang="en-US" err="1">
              <a:ea typeface="+mn-lt"/>
              <a:cs typeface="+mn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143000" y="278892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Expression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→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ประเมินผลแล้วให้ค่า</a:t>
            </a:r>
            <a:endParaRPr lang="en-US" err="1">
              <a:ea typeface="+mn-lt"/>
              <a:cs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143000" y="379476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;</a:t>
            </a:r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222222"/>
                </a:solidFill>
                <a:ea typeface="+mn-lt"/>
                <a:cs typeface="+mn-lt"/>
              </a:rPr>
              <a:t>หลัง</a:t>
            </a:r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 Expression </a:t>
            </a:r>
            <a:r>
              <a:rPr lang="en-US" b="1" err="1">
                <a:solidFill>
                  <a:srgbClr val="222222"/>
                </a:solidFill>
                <a:ea typeface="+mn-lt"/>
                <a:cs typeface="+mn-lt"/>
              </a:rPr>
              <a:t>สุดท้ายของ</a:t>
            </a:r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 block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→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ทำให้ค่าของ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Expression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นั้นไม่ถูกใช้เป็นค่าของ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block</a:t>
            </a:r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484632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1143000" y="4800600"/>
            <a:ext cx="1087492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err="1">
                <a:solidFill>
                  <a:srgbClr val="222222"/>
                </a:solidFill>
                <a:ea typeface="+mn-lt"/>
                <a:cs typeface="+mn-lt"/>
              </a:rPr>
              <a:t>ความเชื่อมโยงกับวิชา</a:t>
            </a:r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 PPL 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→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 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เกี่ยวข้องกับ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Syntax &amp; Semantics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ของโค้ด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, 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Type Checking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ของค่าที่ได้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และ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Control Flow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เช่น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if</a:t>
            </a: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— เอกสารอ้างอิง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729343" y="1715105"/>
            <a:ext cx="11274552" cy="28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/>
              <a:buChar char="•"/>
            </a:pP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[The Rust Programming Language — Statements and Expressions](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  <a:hlinkClick r:id="rId3"/>
              </a:rPr>
              <a:t>https://doc.rust-lang.org/book/ch03-03-how-functions-work.html#statements-and-expressions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)</a:t>
            </a:r>
            <a:endParaRPr lang="th-TH" sz="1500">
              <a:solidFill>
                <a:srgbClr val="222222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500">
              <a:solidFill>
                <a:srgbClr val="222222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[Rust By Example — Expressions](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  <a:hlinkClick r:id="rId4"/>
              </a:rPr>
              <a:t>https://doc.rust-lang.org/rust-by-example/expression.html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)</a:t>
            </a:r>
            <a:endParaRPr lang="th-TH" sz="1500">
              <a:solidFill>
                <a:srgbClr val="222222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500">
              <a:solidFill>
                <a:srgbClr val="222222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[The Rust Reference — Statements and Expressions](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  <a:hlinkClick r:id="rId5"/>
              </a:rPr>
              <a:t>https://doc.rust-lang.org/reference/statements-and-expressions.html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)</a:t>
            </a:r>
            <a:endParaRPr lang="th-TH" sz="1500">
              <a:solidFill>
                <a:srgbClr val="222222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500">
              <a:solidFill>
                <a:srgbClr val="222222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[The Rust Reference — Block Expressions](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  <a:hlinkClick r:id="rId6"/>
              </a:rPr>
              <a:t>https://doc.rust-lang.org/reference/expressions/block-expr.html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)</a:t>
            </a:r>
            <a:endParaRPr lang="th-TH" sz="1500">
              <a:solidFill>
                <a:srgbClr val="222222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500">
              <a:solidFill>
                <a:srgbClr val="222222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[Rust Standard Library — Unit Type `()`](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  <a:hlinkClick r:id="rId7"/>
              </a:rPr>
              <a:t>https://doc.rust-lang.org/std/primitive.unit.html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)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GitHub Repository: </a:t>
            </a:r>
            <a:r>
              <a:rPr lang="en-US" sz="1300">
                <a:solidFill>
                  <a:srgbClr val="6B6B6B"/>
                </a:solidFill>
                <a:ea typeface="+mn-lt"/>
                <a:cs typeface="+mn-lt"/>
                <a:hlinkClick r:id="rId8"/>
              </a:rPr>
              <a:t>https://github.com/670710127/rust-tutorial-2569/tree/main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A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8B2E2E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88552" y="3657600"/>
            <a:ext cx="5029200" cy="5029200"/>
          </a:xfrm>
          <a:prstGeom prst="ellipse">
            <a:avLst/>
          </a:prstGeom>
          <a:solidFill>
            <a:srgbClr val="C9A227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440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err="1">
                <a:solidFill>
                  <a:srgbClr val="D8C8C8"/>
                </a:solidFill>
                <a:latin typeface="Calibri"/>
                <a:ea typeface="Calibri"/>
                <a:cs typeface="Calibri"/>
              </a:rPr>
              <a:t>กลุ่ม</a:t>
            </a:r>
            <a:r>
              <a:rPr lang="en-US">
                <a:solidFill>
                  <a:srgbClr val="D8C8C8"/>
                </a:solidFill>
                <a:latin typeface="Calibri"/>
                <a:ea typeface="Calibri"/>
                <a:cs typeface="Calibri"/>
              </a:rPr>
              <a:t> [05]  —  Expressions &amp; Statements</a:t>
            </a:r>
            <a:endParaRPr lang="en-US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e45cb4d8-19a9-4b13-b6f5-824b45606c3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95E7BA23164C44A34976FF774A14AC" ma:contentTypeVersion="4" ma:contentTypeDescription="Create a new document." ma:contentTypeScope="" ma:versionID="1f4f63be8d2f97290eb6360cf59410dd">
  <xsd:schema xmlns:xsd="http://www.w3.org/2001/XMLSchema" xmlns:xs="http://www.w3.org/2001/XMLSchema" xmlns:p="http://schemas.microsoft.com/office/2006/metadata/properties" xmlns:ns2="e45cb4d8-19a9-4b13-b6f5-824b45606c3c" targetNamespace="http://schemas.microsoft.com/office/2006/metadata/properties" ma:root="true" ma:fieldsID="7f81018ab83aedf938603f880af59b12" ns2:_="">
    <xsd:import namespace="e45cb4d8-19a9-4b13-b6f5-824b45606c3c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cb4d8-19a9-4b13-b6f5-824b45606c3c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haredContentType xmlns="Microsoft.SharePoint.Taxonomy.ContentTypeSync" SourceId="5fc7acaa-f919-463b-ae62-f5f9386dcdd5" ContentTypeId="0x0101" PreviousValue="false" LastSyncTimeStamp="2021-07-23T15:19:22.11Z"/>
</file>

<file path=customXml/itemProps1.xml><?xml version="1.0" encoding="utf-8"?>
<ds:datastoreItem xmlns:ds="http://schemas.openxmlformats.org/officeDocument/2006/customXml" ds:itemID="{C99117EF-BA54-42FD-B62A-5873547695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8E5E56-0CD0-4894-A2CA-99C3A5EE20BD}">
  <ds:schemaRefs>
    <ds:schemaRef ds:uri="e45cb4d8-19a9-4b13-b6f5-824b45606c3c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BDC7BEB5-F0D0-4BFD-B608-BB493CAF0DFD}">
  <ds:schemaRefs>
    <ds:schemaRef ds:uri="e45cb4d8-19a9-4b13-b6f5-824b45606c3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F5A667C0-ED1B-4BFA-9314-03765D10CAC2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39</Slides>
  <Notes>39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2026-09-18T02:35:33Z</dcterms:created>
  <dcterms:modified xsi:type="dcterms:W3CDTF">2026-10-03T11:15:50Z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0x010100AF95E7BA23164C44A34976FF774A14AC</vt:lpwstr>
  </property>
</Properties>
</file>